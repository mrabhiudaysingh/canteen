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2"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22"/>
                </a:solidFill>
                <a:latin typeface="+mn-lt"/>
              </a:defRPr>
            </a:pPr>
            <a:r>
              <a:rPr lang="en-IN" sz="1200" b="0" i="0" u="none" strike="noStrike">
                <a:solidFill>
                  <a:srgbClr val="1B2A22"/>
                </a:solidFill>
                <a:latin typeface="+mn-lt"/>
              </a:rPr>
              <a:t>Revenue by category (₹)</a:t>
            </a:r>
          </a:p>
        </c:rich>
      </c:tx>
      <c:overlay val="0"/>
    </c:title>
    <c:autoTitleDeleted val="0"/>
    <c:plotArea>
      <c:layout/>
      <c:barChart>
        <c:barDir val="bar"/>
        <c:grouping val="clustered"/>
        <c:varyColors val="0"/>
        <c:ser>
          <c:idx val="0"/>
          <c:order val="0"/>
          <c:tx>
            <c:strRef>
              <c:f>Sheet1!$B$1</c:f>
              <c:strCache>
                <c:ptCount val="1"/>
                <c:pt idx="0">
                  <c:v>Revenue (₹)</c:v>
                </c:pt>
              </c:strCache>
            </c:strRef>
          </c:tx>
          <c:spPr>
            <a:solidFill>
              <a:srgbClr val="2E7D4F"/>
            </a:solidFill>
            <a:effectLst/>
          </c:spPr>
          <c:invertIfNegative val="0"/>
          <c:dLbls>
            <c:numFmt formatCode="#,##0" sourceLinked="0"/>
            <c:spPr>
              <a:noFill/>
              <a:ln>
                <a:noFill/>
              </a:ln>
              <a:effectLst/>
            </c:spPr>
            <c:txPr>
              <a:bodyPr/>
              <a:lstStyle/>
              <a:p>
                <a:pPr>
                  <a:defRPr sz="10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Main Course</c:v>
                </c:pt>
                <c:pt idx="1">
                  <c:v>Burgers &amp; Wraps</c:v>
                </c:pt>
                <c:pt idx="2">
                  <c:v>Beverages</c:v>
                </c:pt>
                <c:pt idx="3">
                  <c:v>Snacks</c:v>
                </c:pt>
                <c:pt idx="4">
                  <c:v>Desserts</c:v>
                </c:pt>
              </c:strCache>
            </c:strRef>
          </c:cat>
          <c:val>
            <c:numRef>
              <c:f>Sheet1!$B$2:$B$6</c:f>
              <c:numCache>
                <c:formatCode>General</c:formatCode>
                <c:ptCount val="5"/>
                <c:pt idx="0">
                  <c:v>460</c:v>
                </c:pt>
                <c:pt idx="1">
                  <c:v>430</c:v>
                </c:pt>
                <c:pt idx="2">
                  <c:v>240</c:v>
                </c:pt>
                <c:pt idx="3">
                  <c:v>120</c:v>
                </c:pt>
                <c:pt idx="4">
                  <c:v>70</c:v>
                </c:pt>
              </c:numCache>
            </c:numRef>
          </c:val>
          <c:extLst>
            <c:ext xmlns:c16="http://schemas.microsoft.com/office/drawing/2014/chart" uri="{C3380CC4-5D6E-409C-BE32-E72D297353CC}">
              <c16:uniqueId val="{00000000-9986-4C2D-991A-DC0DA988B49B}"/>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44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One line: a database-driven system where students order ahead and canteen staff run orders, stock and billing from one place.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canteens mean queues, paper orders, repeated entry, no order status, billing mistakes and stock running out unnoticed. We built one database as the single source of truth. Three roles use it: student, staff, admin.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ER diagram, ten entities and nine relationships, with ORDER_ITEM resolving orders and food items and a junction table for the many-to-many "uses". Right: the relational schema mapped from it. Bold underlined are primary keys, italic are foreign keys.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1NF, 2NF, 3NF. Derived values: line total is computed, bill total is protected by a CHECK, unit_price is stored on purpose to freeze the price at order time. The counts come from database.sql.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 step fails, for example not enough stock, ROLLBACK undoes everything. Demo: log in as Aarav, add Biryani, Samosa and two Chai, pay by UPI, open My orders. One click writes to orders, order_items, bills and payments and reduces stock by recipe.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staff move each order forward and cancelling restores stock. Dashboard: live revenue and best sellers. Delete refused: Chicken Biryani is in past orders so ON DELETE RESTRICT blocks it (error 1451). Bottom: query 2, revenue by category, and query 4, best sellers, from the real MySQL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invalid statements fired at MySQL (duplicate email, negative price, unknown category, zero quantity, second bill, wrong total) were all rejected, plus 10 UI tests. We delivered ER to 3NF schema to MySQL to a working app with ACID transactions. Future work on the right. Invite questions; any member can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382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marL="0" indent="0">
              <a:buNone/>
            </a:pPr>
            <a:r>
              <a:rPr lang="en-US" sz="1000" dirty="0">
                <a:solidFill>
                  <a:srgbClr val="5A6B62"/>
                </a:solidFill>
                <a:latin typeface="Calibri" pitchFamily="34" charset="0"/>
                <a:ea typeface="Calibri" pitchFamily="34" charset="-122"/>
                <a:cs typeface="Calibri" pitchFamily="34" charset="-120"/>
              </a:rPr>
              <a:t>Canteen Food Ordering &amp; Billing Management System</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4382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9.jp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plate"/>
          <p:cNvSpPr/>
          <p:nvPr/>
        </p:nvSpPr>
        <p:spPr>
          <a:xfrm>
            <a:off x="457200" y="411480"/>
            <a:ext cx="1828800" cy="868680"/>
          </a:xfrm>
          <a:prstGeom prst="roundRect">
            <a:avLst>
              <a:gd name="adj" fmla="val 10526"/>
            </a:avLst>
          </a:prstGeom>
          <a:solidFill>
            <a:srgbClr val="FFFFFF"/>
          </a:solidFill>
          <a:ln w="12700">
            <a:solidFill>
              <a:srgbClr val="FFFFFF"/>
            </a:solidFill>
            <a:prstDash val="solid"/>
          </a:ln>
        </p:spPr>
      </p:sp>
      <p:pic>
        <p:nvPicPr>
          <p:cNvPr id="3" name="logo" descr="Woxsen University logo"/>
          <p:cNvPicPr>
            <a:picLocks noChangeAspect="1"/>
          </p:cNvPicPr>
          <p:nvPr/>
        </p:nvPicPr>
        <p:blipFill>
          <a:blip r:embed="rId3"/>
          <a:stretch>
            <a:fillRect/>
          </a:stretch>
        </p:blipFill>
        <p:spPr>
          <a:xfrm>
            <a:off x="658368" y="475488"/>
            <a:ext cx="1426464" cy="676656"/>
          </a:xfrm>
          <a:prstGeom prst="rect">
            <a:avLst/>
          </a:prstGeom>
        </p:spPr>
      </p:pic>
      <p:sp>
        <p:nvSpPr>
          <p:cNvPr id="4" name="Text 1"/>
          <p:cNvSpPr txBox="1"/>
          <p:nvPr/>
        </p:nvSpPr>
        <p:spPr>
          <a:xfrm>
            <a:off x="457200" y="1600200"/>
            <a:ext cx="6400800" cy="274320"/>
          </a:xfrm>
          <a:prstGeom prst="rect">
            <a:avLst/>
          </a:prstGeom>
          <a:noFill/>
          <a:ln/>
        </p:spPr>
        <p:txBody>
          <a:bodyPr wrap="square" lIns="0" tIns="0" rIns="0" bIns="0" rtlCol="0" anchor="t"/>
          <a:lstStyle/>
          <a:p>
            <a:pPr marL="0" indent="0">
              <a:buNone/>
            </a:pPr>
            <a:r>
              <a:rPr lang="en-US" sz="1300" b="1" kern="0" spc="300" dirty="0">
                <a:solidFill>
                  <a:srgbClr val="E4A11B"/>
                </a:solidFill>
                <a:latin typeface="Calibri" pitchFamily="34" charset="0"/>
                <a:ea typeface="Calibri" pitchFamily="34" charset="-122"/>
                <a:cs typeface="Calibri" pitchFamily="34" charset="-120"/>
              </a:rPr>
              <a:t>DBMS COURSE PROJECT · PROJECT 07</a:t>
            </a:r>
            <a:endParaRPr lang="en-US" sz="1300" dirty="0"/>
          </a:p>
        </p:txBody>
      </p:sp>
      <p:sp>
        <p:nvSpPr>
          <p:cNvPr id="5" name="Text 2"/>
          <p:cNvSpPr txBox="1"/>
          <p:nvPr/>
        </p:nvSpPr>
        <p:spPr>
          <a:xfrm>
            <a:off x="457200" y="192024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Canteen Food Ordering and</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Billing Management System</a:t>
            </a:r>
            <a:endParaRPr lang="en-US" sz="4000" dirty="0"/>
          </a:p>
        </p:txBody>
      </p:sp>
      <p:sp>
        <p:nvSpPr>
          <p:cNvPr id="6" name="Text 3"/>
          <p:cNvSpPr txBox="1"/>
          <p:nvPr/>
        </p:nvSpPr>
        <p:spPr>
          <a:xfrm>
            <a:off x="457200" y="3337560"/>
            <a:ext cx="6949440" cy="320040"/>
          </a:xfrm>
          <a:prstGeom prst="rect">
            <a:avLst/>
          </a:prstGeom>
          <a:noFill/>
          <a:ln/>
        </p:spPr>
        <p:txBody>
          <a:bodyPr wrap="square" lIns="0" tIns="0" rIns="0" bIns="0" rtlCol="0" anchor="t"/>
          <a:lstStyle/>
          <a:p>
            <a:pPr marL="0" indent="0">
              <a:buNone/>
            </a:pPr>
            <a:r>
              <a:rPr lang="en-US" sz="1600" dirty="0">
                <a:solidFill>
                  <a:srgbClr val="CFE3D6"/>
                </a:solidFill>
                <a:latin typeface="Calibri" pitchFamily="34" charset="0"/>
                <a:ea typeface="Calibri" pitchFamily="34" charset="-122"/>
                <a:cs typeface="Calibri" pitchFamily="34" charset="-120"/>
              </a:rPr>
              <a:t>Design and implementation of a relational database with a working web application</a:t>
            </a:r>
            <a:endParaRPr lang="en-US" sz="1600" dirty="0"/>
          </a:p>
        </p:txBody>
      </p:sp>
      <p:sp>
        <p:nvSpPr>
          <p:cNvPr id="7" name="Text 4"/>
          <p:cNvSpPr txBox="1"/>
          <p:nvPr/>
        </p:nvSpPr>
        <p:spPr>
          <a:xfrm>
            <a:off x="457200" y="3931920"/>
            <a:ext cx="3840480" cy="777240"/>
          </a:xfrm>
          <a:prstGeom prst="rect">
            <a:avLst/>
          </a:prstGeom>
          <a:noFill/>
          <a:ln/>
        </p:spPr>
        <p:txBody>
          <a:bodyPr wrap="square" lIns="0" tIns="0" rIns="0" bIns="0" rtlCol="0" anchor="t"/>
          <a:lstStyle/>
          <a:p>
            <a:pPr marL="0" indent="0">
              <a:spcAft>
                <a:spcPts val="200"/>
              </a:spcAft>
              <a:buNone/>
            </a:pPr>
            <a:r>
              <a:rPr lang="en-US" sz="1300" dirty="0">
                <a:solidFill>
                  <a:srgbClr val="FFFFFF"/>
                </a:solidFill>
                <a:latin typeface="Calibri" pitchFamily="34" charset="0"/>
                <a:ea typeface="Calibri" pitchFamily="34" charset="-122"/>
                <a:cs typeface="Calibri" pitchFamily="34" charset="-120"/>
              </a:rPr>
              <a:t>Abhiuday Singh  25WU0101006</a:t>
            </a:r>
            <a:endParaRPr lang="en-US" sz="1300" dirty="0"/>
          </a:p>
          <a:p>
            <a:pPr marL="0" indent="0">
              <a:spcAft>
                <a:spcPts val="200"/>
              </a:spcAft>
              <a:buNone/>
            </a:pPr>
            <a:r>
              <a:rPr lang="en-US" sz="1300" dirty="0">
                <a:solidFill>
                  <a:srgbClr val="FFFFFF"/>
                </a:solidFill>
                <a:latin typeface="Calibri" pitchFamily="34" charset="0"/>
                <a:ea typeface="Calibri" pitchFamily="34" charset="-122"/>
                <a:cs typeface="Calibri" pitchFamily="34" charset="-120"/>
              </a:rPr>
              <a:t>Aryaman Jain  25WU0101017</a:t>
            </a:r>
            <a:endParaRPr lang="en-US" sz="1300" dirty="0"/>
          </a:p>
          <a:p>
            <a:pPr marL="0" indent="0">
              <a:spcAft>
                <a:spcPts val="200"/>
              </a:spcAft>
              <a:buNone/>
            </a:pPr>
            <a:r>
              <a:rPr lang="en-US" sz="1300" dirty="0">
                <a:solidFill>
                  <a:srgbClr val="FFFFFF"/>
                </a:solidFill>
                <a:latin typeface="Calibri" pitchFamily="34" charset="0"/>
                <a:ea typeface="Calibri" pitchFamily="34" charset="-122"/>
                <a:cs typeface="Calibri" pitchFamily="34" charset="-120"/>
              </a:rPr>
              <a:t>Harsh Jha  25WU0101046</a:t>
            </a:r>
            <a:endParaRPr lang="en-US" sz="1300" dirty="0"/>
          </a:p>
        </p:txBody>
      </p:sp>
      <p:sp>
        <p:nvSpPr>
          <p:cNvPr id="8" name="Text 5"/>
          <p:cNvSpPr txBox="1"/>
          <p:nvPr/>
        </p:nvSpPr>
        <p:spPr>
          <a:xfrm>
            <a:off x="4754880" y="3931920"/>
            <a:ext cx="3931920" cy="777240"/>
          </a:xfrm>
          <a:prstGeom prst="rect">
            <a:avLst/>
          </a:prstGeom>
          <a:noFill/>
          <a:ln/>
        </p:spPr>
        <p:txBody>
          <a:bodyPr wrap="square" lIns="0" tIns="0" rIns="0" bIns="0" rtlCol="0" anchor="t"/>
          <a:lstStyle/>
          <a:p>
            <a:pPr marL="0" indent="0" algn="r">
              <a:spcAft>
                <a:spcPts val="200"/>
              </a:spcAft>
              <a:buNone/>
            </a:pPr>
            <a:r>
              <a:rPr lang="en-US" sz="1300" b="1" dirty="0">
                <a:solidFill>
                  <a:srgbClr val="CFE3D6"/>
                </a:solidFill>
                <a:latin typeface="Calibri" pitchFamily="34" charset="0"/>
                <a:ea typeface="Calibri" pitchFamily="34" charset="-122"/>
                <a:cs typeface="Calibri" pitchFamily="34" charset="-120"/>
              </a:rPr>
              <a:t>Faculty Mentor: Dr. Kiran Mayee</a:t>
            </a:r>
            <a:endParaRPr lang="en-US" sz="1300" dirty="0"/>
          </a:p>
          <a:p>
            <a:pPr marL="0" indent="0" algn="r">
              <a:spcAft>
                <a:spcPts val="200"/>
              </a:spcAft>
              <a:buNone/>
            </a:pPr>
            <a:r>
              <a:rPr lang="en-US" sz="1300" dirty="0">
                <a:solidFill>
                  <a:srgbClr val="CFE3D6"/>
                </a:solidFill>
                <a:latin typeface="Calibri" pitchFamily="34" charset="0"/>
                <a:ea typeface="Calibri" pitchFamily="34" charset="-122"/>
                <a:cs typeface="Calibri" pitchFamily="34" charset="-120"/>
              </a:rPr>
              <a:t>Database Management Systems</a:t>
            </a:r>
            <a:endParaRPr lang="en-US" sz="1300" dirty="0"/>
          </a:p>
          <a:p>
            <a:pPr marL="0" indent="0" algn="r">
              <a:spcAft>
                <a:spcPts val="200"/>
              </a:spcAft>
              <a:buNone/>
            </a:pPr>
            <a:r>
              <a:rPr lang="en-US" sz="1300" dirty="0">
                <a:solidFill>
                  <a:srgbClr val="CFE3D6"/>
                </a:solidFill>
                <a:latin typeface="Calibri" pitchFamily="34" charset="0"/>
                <a:ea typeface="Calibri" pitchFamily="34" charset="-122"/>
                <a:cs typeface="Calibri" pitchFamily="34" charset="-120"/>
              </a:rPr>
              <a:t>School of Technology, Woxsen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rgbClr val="14382A"/>
                </a:solidFill>
                <a:latin typeface="Cambria" pitchFamily="34" charset="0"/>
                <a:ea typeface="Cambria" pitchFamily="34" charset="-122"/>
                <a:cs typeface="Cambria" pitchFamily="34" charset="-120"/>
              </a:rPr>
              <a:t>Problem, objectives and users</a:t>
            </a:r>
            <a:endParaRPr lang="en-US" sz="3200" dirty="0"/>
          </a:p>
        </p:txBody>
      </p:sp>
      <p:sp>
        <p:nvSpPr>
          <p:cNvPr id="4" name="problem"/>
          <p:cNvSpPr/>
          <p:nvPr/>
        </p:nvSpPr>
        <p:spPr>
          <a:xfrm>
            <a:off x="457200" y="1143000"/>
            <a:ext cx="4023360" cy="868680"/>
          </a:xfrm>
          <a:prstGeom prst="roundRect">
            <a:avLst>
              <a:gd name="adj" fmla="val 8421"/>
            </a:avLst>
          </a:prstGeom>
          <a:solidFill>
            <a:srgbClr val="F3F6F2"/>
          </a:solidFill>
          <a:ln w="9525">
            <a:solidFill>
              <a:srgbClr val="D5DED8"/>
            </a:solidFill>
            <a:prstDash val="solid"/>
          </a:ln>
        </p:spPr>
      </p:sp>
      <p:sp>
        <p:nvSpPr>
          <p:cNvPr id="5" name="Text 2"/>
          <p:cNvSpPr txBox="1"/>
          <p:nvPr/>
        </p:nvSpPr>
        <p:spPr>
          <a:xfrm>
            <a:off x="621792" y="1216152"/>
            <a:ext cx="3703320" cy="731520"/>
          </a:xfrm>
          <a:prstGeom prst="rect">
            <a:avLst/>
          </a:prstGeom>
          <a:noFill/>
          <a:ln/>
        </p:spPr>
        <p:txBody>
          <a:bodyPr wrap="square" lIns="0" tIns="0" rIns="0" bIns="0" rtlCol="0" anchor="ctr"/>
          <a:lstStyle/>
          <a:p>
            <a:pPr marL="0" indent="0">
              <a:buNone/>
            </a:pPr>
            <a:r>
              <a:rPr lang="en-US" sz="1300" b="1" dirty="0">
                <a:solidFill>
                  <a:srgbClr val="2E7D4F"/>
                </a:solidFill>
                <a:latin typeface="Calibri" pitchFamily="34" charset="0"/>
                <a:ea typeface="Calibri" pitchFamily="34" charset="-122"/>
                <a:cs typeface="Calibri" pitchFamily="34" charset="-120"/>
              </a:rPr>
              <a:t>The problem  </a:t>
            </a:r>
            <a:r>
              <a:rPr lang="en-US" sz="1300" dirty="0">
                <a:solidFill>
                  <a:srgbClr val="1B2A22"/>
                </a:solidFill>
                <a:latin typeface="Calibri" pitchFamily="34" charset="0"/>
                <a:ea typeface="Calibri" pitchFamily="34" charset="-122"/>
                <a:cs typeface="Calibri" pitchFamily="34" charset="-120"/>
              </a:rPr>
              <a:t>Paper orders, long queues, no order status, hand-made bills and ingredients running out unnoticed.</a:t>
            </a:r>
            <a:endParaRPr lang="en-US" sz="1300" dirty="0"/>
          </a:p>
        </p:txBody>
      </p:sp>
      <p:sp>
        <p:nvSpPr>
          <p:cNvPr id="6" name="Text 3"/>
          <p:cNvSpPr txBox="1"/>
          <p:nvPr/>
        </p:nvSpPr>
        <p:spPr>
          <a:xfrm>
            <a:off x="457200" y="2194560"/>
            <a:ext cx="4023360" cy="320040"/>
          </a:xfrm>
          <a:prstGeom prst="rect">
            <a:avLst/>
          </a:prstGeom>
          <a:noFill/>
          <a:ln/>
        </p:spPr>
        <p:txBody>
          <a:bodyPr wrap="square" lIns="0" tIns="0" rIns="0" bIns="0" rtlCol="0" anchor="t"/>
          <a:lstStyle/>
          <a:p>
            <a:pPr marL="0" indent="0">
              <a:buNone/>
            </a:pPr>
            <a:r>
              <a:rPr lang="en-US" sz="2000" b="1" dirty="0">
                <a:solidFill>
                  <a:srgbClr val="2E7D4F"/>
                </a:solidFill>
                <a:latin typeface="Cambria" pitchFamily="34" charset="0"/>
                <a:ea typeface="Cambria" pitchFamily="34" charset="-122"/>
                <a:cs typeface="Cambria" pitchFamily="34" charset="-120"/>
              </a:rPr>
              <a:t>Objectives</a:t>
            </a:r>
            <a:endParaRPr lang="en-US" sz="2000" dirty="0"/>
          </a:p>
        </p:txBody>
      </p:sp>
      <p:sp>
        <p:nvSpPr>
          <p:cNvPr id="7" name="Text 4"/>
          <p:cNvSpPr txBox="1"/>
          <p:nvPr/>
        </p:nvSpPr>
        <p:spPr>
          <a:xfrm>
            <a:off x="393616" y="2560320"/>
            <a:ext cx="4086944" cy="2103120"/>
          </a:xfrm>
          <a:prstGeom prst="rect">
            <a:avLst/>
          </a:prstGeom>
          <a:noFill/>
          <a:ln/>
        </p:spPr>
        <p:txBody>
          <a:bodyPr wrap="square" lIns="0" tIns="0" rIns="0" bIns="0" rtlCol="0" anchor="t"/>
          <a:lstStyle/>
          <a:p>
            <a:pPr marL="342900" indent="-342900">
              <a:spcAft>
                <a:spcPts val="400"/>
              </a:spcAft>
              <a:buSzPct val="100000"/>
              <a:buChar char="•"/>
            </a:pPr>
            <a:r>
              <a:rPr lang="en-IN" sz="1400" dirty="0"/>
              <a:t>Design the ER model for the canteen system</a:t>
            </a:r>
          </a:p>
          <a:p>
            <a:pPr marL="285750" lvl="0" indent="-285750">
              <a:buFont typeface="Arial" panose="020B0604020202020204" pitchFamily="34" charset="0"/>
              <a:buChar char="•"/>
            </a:pPr>
            <a:r>
              <a:rPr lang="en-IN" sz="1400" dirty="0"/>
              <a:t>Convert the ER model into a 3NF relational database.</a:t>
            </a:r>
          </a:p>
          <a:p>
            <a:pPr marL="342900" indent="-342900">
              <a:spcAft>
                <a:spcPts val="400"/>
              </a:spcAft>
              <a:buSzPct val="100000"/>
              <a:buChar char="•"/>
            </a:pPr>
            <a:r>
              <a:rPr lang="en-IN" sz="1400" dirty="0"/>
              <a:t>Maintain data integrity and consistency.</a:t>
            </a:r>
          </a:p>
          <a:p>
            <a:pPr marL="285750" lvl="0" indent="-285750">
              <a:buFont typeface="Arial" panose="020B0604020202020204" pitchFamily="34" charset="0"/>
              <a:buChar char="•"/>
            </a:pPr>
            <a:r>
              <a:rPr lang="en-IN" sz="1400" dirty="0"/>
              <a:t>Manage orders, billing, payments, and inventory.</a:t>
            </a:r>
          </a:p>
          <a:p>
            <a:pPr marL="285750" indent="-285750">
              <a:buFont typeface="Arial" panose="020B0604020202020204" pitchFamily="34" charset="0"/>
              <a:buChar char="•"/>
            </a:pPr>
            <a:r>
              <a:rPr lang="en-IN" sz="1400" dirty="0"/>
              <a:t>Provide a web interface for students, staff, and admins.</a:t>
            </a:r>
          </a:p>
          <a:p>
            <a:pPr marL="285750" lvl="0" indent="-285750">
              <a:buFont typeface="Arial" panose="020B0604020202020204" pitchFamily="34" charset="0"/>
              <a:buChar char="•"/>
            </a:pPr>
            <a:r>
              <a:rPr lang="en-IN" sz="1400" dirty="0"/>
              <a:t>Generate SQL-based reports for canteen operations. </a:t>
            </a:r>
          </a:p>
        </p:txBody>
      </p:sp>
      <p:sp>
        <p:nvSpPr>
          <p:cNvPr id="8" name="role-card"/>
          <p:cNvSpPr/>
          <p:nvPr/>
        </p:nvSpPr>
        <p:spPr>
          <a:xfrm>
            <a:off x="4846320" y="1143000"/>
            <a:ext cx="3840480" cy="1051560"/>
          </a:xfrm>
          <a:prstGeom prst="roundRect">
            <a:avLst>
              <a:gd name="adj" fmla="val 6957"/>
            </a:avLst>
          </a:prstGeom>
          <a:solidFill>
            <a:srgbClr val="FFFFFF"/>
          </a:solidFill>
          <a:ln w="9525">
            <a:solidFill>
              <a:srgbClr val="D5DED8"/>
            </a:solidFill>
            <a:prstDash val="solid"/>
          </a:ln>
          <a:effectLst>
            <a:outerShdw blurRad="101600" dist="25400" dir="5400000" algn="bl" rotWithShape="0">
              <a:srgbClr val="000000">
                <a:alpha val="18000"/>
              </a:srgbClr>
            </a:outerShdw>
          </a:effectLst>
        </p:spPr>
      </p:sp>
      <p:sp>
        <p:nvSpPr>
          <p:cNvPr id="9" name="role-badge"/>
          <p:cNvSpPr/>
          <p:nvPr/>
        </p:nvSpPr>
        <p:spPr>
          <a:xfrm>
            <a:off x="5029200" y="1417320"/>
            <a:ext cx="502920" cy="502920"/>
          </a:xfrm>
          <a:prstGeom prst="ellipse">
            <a:avLst/>
          </a:prstGeom>
          <a:solidFill>
            <a:srgbClr val="2E7D4F"/>
          </a:solidFill>
          <a:ln w="12700">
            <a:solidFill>
              <a:srgbClr val="2E7D4F"/>
            </a:solidFill>
            <a:prstDash val="solid"/>
          </a:ln>
        </p:spPr>
      </p:sp>
      <p:sp>
        <p:nvSpPr>
          <p:cNvPr id="10" name="Text 7"/>
          <p:cNvSpPr txBox="1"/>
          <p:nvPr/>
        </p:nvSpPr>
        <p:spPr>
          <a:xfrm>
            <a:off x="5029200" y="1417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11" name="Text 8"/>
          <p:cNvSpPr txBox="1"/>
          <p:nvPr/>
        </p:nvSpPr>
        <p:spPr>
          <a:xfrm>
            <a:off x="5715000" y="1252728"/>
            <a:ext cx="2834640" cy="274320"/>
          </a:xfrm>
          <a:prstGeom prst="rect">
            <a:avLst/>
          </a:prstGeom>
          <a:noFill/>
          <a:ln/>
        </p:spPr>
        <p:txBody>
          <a:bodyPr wrap="square" lIns="0" tIns="0" rIns="0" bIns="0" rtlCol="0" anchor="t"/>
          <a:lstStyle/>
          <a:p>
            <a:pPr marL="0" indent="0">
              <a:buNone/>
            </a:pPr>
            <a:r>
              <a:rPr lang="en-US" sz="1600" b="1" dirty="0">
                <a:solidFill>
                  <a:srgbClr val="1B2A22"/>
                </a:solidFill>
                <a:latin typeface="Calibri" pitchFamily="34" charset="0"/>
                <a:ea typeface="Calibri" pitchFamily="34" charset="-122"/>
                <a:cs typeface="Calibri" pitchFamily="34" charset="-120"/>
              </a:rPr>
              <a:t>Student  </a:t>
            </a:r>
            <a:r>
              <a:rPr lang="en-US" sz="1100" dirty="0">
                <a:solidFill>
                  <a:srgbClr val="5A6B62"/>
                </a:solidFill>
                <a:latin typeface="Consolas" pitchFamily="34" charset="0"/>
                <a:ea typeface="Consolas" pitchFamily="34" charset="-122"/>
                <a:cs typeface="Consolas" pitchFamily="34" charset="-120"/>
              </a:rPr>
              <a:t>STUDENT</a:t>
            </a:r>
            <a:endParaRPr lang="en-US" sz="1600" dirty="0"/>
          </a:p>
        </p:txBody>
      </p:sp>
      <p:sp>
        <p:nvSpPr>
          <p:cNvPr id="12" name="Text 9"/>
          <p:cNvSpPr txBox="1"/>
          <p:nvPr/>
        </p:nvSpPr>
        <p:spPr>
          <a:xfrm>
            <a:off x="5715000" y="1554480"/>
            <a:ext cx="2834640" cy="594360"/>
          </a:xfrm>
          <a:prstGeom prst="rect">
            <a:avLst/>
          </a:prstGeom>
          <a:noFill/>
          <a:ln/>
        </p:spPr>
        <p:txBody>
          <a:bodyPr wrap="square" lIns="0" tIns="0" rIns="0" bIns="0" rtlCol="0" anchor="t"/>
          <a:lstStyle/>
          <a:p>
            <a:pPr marL="0" indent="0">
              <a:buNone/>
            </a:pPr>
            <a:r>
              <a:rPr lang="en-US" sz="1200" dirty="0">
                <a:solidFill>
                  <a:srgbClr val="5A6B62"/>
                </a:solidFill>
                <a:latin typeface="Calibri" pitchFamily="34" charset="0"/>
                <a:ea typeface="Calibri" pitchFamily="34" charset="-122"/>
                <a:cs typeface="Calibri" pitchFamily="34" charset="-120"/>
              </a:rPr>
              <a:t>Browse menu, order and pay, track the token, view the bill, cancel before preparation</a:t>
            </a:r>
            <a:endParaRPr lang="en-US" sz="1200" dirty="0"/>
          </a:p>
        </p:txBody>
      </p:sp>
      <p:sp>
        <p:nvSpPr>
          <p:cNvPr id="13" name="role-card"/>
          <p:cNvSpPr/>
          <p:nvPr/>
        </p:nvSpPr>
        <p:spPr>
          <a:xfrm>
            <a:off x="4846320" y="2331720"/>
            <a:ext cx="3840480" cy="1051560"/>
          </a:xfrm>
          <a:prstGeom prst="roundRect">
            <a:avLst>
              <a:gd name="adj" fmla="val 6957"/>
            </a:avLst>
          </a:prstGeom>
          <a:solidFill>
            <a:srgbClr val="FFFFFF"/>
          </a:solidFill>
          <a:ln w="9525">
            <a:solidFill>
              <a:srgbClr val="D5DED8"/>
            </a:solidFill>
            <a:prstDash val="solid"/>
          </a:ln>
          <a:effectLst>
            <a:outerShdw blurRad="101600" dist="25400" dir="5400000" algn="bl" rotWithShape="0">
              <a:srgbClr val="000000">
                <a:alpha val="18000"/>
              </a:srgbClr>
            </a:outerShdw>
          </a:effectLst>
        </p:spPr>
      </p:sp>
      <p:sp>
        <p:nvSpPr>
          <p:cNvPr id="14" name="role-badge"/>
          <p:cNvSpPr/>
          <p:nvPr/>
        </p:nvSpPr>
        <p:spPr>
          <a:xfrm>
            <a:off x="5029200" y="2606040"/>
            <a:ext cx="502920" cy="502920"/>
          </a:xfrm>
          <a:prstGeom prst="ellipse">
            <a:avLst/>
          </a:prstGeom>
          <a:solidFill>
            <a:srgbClr val="E4A11B"/>
          </a:solidFill>
          <a:ln w="12700">
            <a:solidFill>
              <a:srgbClr val="E4A11B"/>
            </a:solidFill>
            <a:prstDash val="solid"/>
          </a:ln>
        </p:spPr>
      </p:sp>
      <p:sp>
        <p:nvSpPr>
          <p:cNvPr id="15" name="Text 12"/>
          <p:cNvSpPr txBox="1"/>
          <p:nvPr/>
        </p:nvSpPr>
        <p:spPr>
          <a:xfrm>
            <a:off x="5029200" y="2606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3"/>
          <p:cNvSpPr txBox="1"/>
          <p:nvPr/>
        </p:nvSpPr>
        <p:spPr>
          <a:xfrm>
            <a:off x="5715000" y="2441448"/>
            <a:ext cx="2834640" cy="274320"/>
          </a:xfrm>
          <a:prstGeom prst="rect">
            <a:avLst/>
          </a:prstGeom>
          <a:noFill/>
          <a:ln/>
        </p:spPr>
        <p:txBody>
          <a:bodyPr wrap="square" lIns="0" tIns="0" rIns="0" bIns="0" rtlCol="0" anchor="t"/>
          <a:lstStyle/>
          <a:p>
            <a:pPr marL="0" indent="0">
              <a:buNone/>
            </a:pPr>
            <a:r>
              <a:rPr lang="en-US" sz="1600" b="1" dirty="0">
                <a:solidFill>
                  <a:srgbClr val="1B2A22"/>
                </a:solidFill>
                <a:latin typeface="Calibri" pitchFamily="34" charset="0"/>
                <a:ea typeface="Calibri" pitchFamily="34" charset="-122"/>
                <a:cs typeface="Calibri" pitchFamily="34" charset="-120"/>
              </a:rPr>
              <a:t>Canteen staff  </a:t>
            </a:r>
            <a:r>
              <a:rPr lang="en-US" sz="1100" dirty="0">
                <a:solidFill>
                  <a:srgbClr val="5A6B62"/>
                </a:solidFill>
                <a:latin typeface="Consolas" pitchFamily="34" charset="0"/>
                <a:ea typeface="Consolas" pitchFamily="34" charset="-122"/>
                <a:cs typeface="Consolas" pitchFamily="34" charset="-120"/>
              </a:rPr>
              <a:t>STAFF</a:t>
            </a:r>
            <a:endParaRPr lang="en-US" sz="1600" dirty="0"/>
          </a:p>
        </p:txBody>
      </p:sp>
      <p:sp>
        <p:nvSpPr>
          <p:cNvPr id="17" name="Text 14"/>
          <p:cNvSpPr txBox="1"/>
          <p:nvPr/>
        </p:nvSpPr>
        <p:spPr>
          <a:xfrm>
            <a:off x="5715000" y="2743200"/>
            <a:ext cx="2834640" cy="594360"/>
          </a:xfrm>
          <a:prstGeom prst="rect">
            <a:avLst/>
          </a:prstGeom>
          <a:noFill/>
          <a:ln/>
        </p:spPr>
        <p:txBody>
          <a:bodyPr wrap="square" lIns="0" tIns="0" rIns="0" bIns="0" rtlCol="0" anchor="t"/>
          <a:lstStyle/>
          <a:p>
            <a:pPr marL="0" indent="0">
              <a:buNone/>
            </a:pPr>
            <a:r>
              <a:rPr lang="en-US" sz="1200" dirty="0">
                <a:solidFill>
                  <a:srgbClr val="5A6B62"/>
                </a:solidFill>
                <a:latin typeface="Calibri" pitchFamily="34" charset="0"/>
                <a:ea typeface="Calibri" pitchFamily="34" charset="-122"/>
                <a:cs typeface="Calibri" pitchFamily="34" charset="-120"/>
              </a:rPr>
              <a:t>Move orders through the kitchen, collect cash, update stock, view bills and reports</a:t>
            </a:r>
            <a:endParaRPr lang="en-US" sz="1200" dirty="0"/>
          </a:p>
        </p:txBody>
      </p:sp>
      <p:sp>
        <p:nvSpPr>
          <p:cNvPr id="18" name="role-card"/>
          <p:cNvSpPr/>
          <p:nvPr/>
        </p:nvSpPr>
        <p:spPr>
          <a:xfrm>
            <a:off x="4846320" y="3520440"/>
            <a:ext cx="3840480" cy="1051560"/>
          </a:xfrm>
          <a:prstGeom prst="roundRect">
            <a:avLst>
              <a:gd name="adj" fmla="val 6957"/>
            </a:avLst>
          </a:prstGeom>
          <a:solidFill>
            <a:srgbClr val="FFFFFF"/>
          </a:solidFill>
          <a:ln w="9525">
            <a:solidFill>
              <a:srgbClr val="D5DED8"/>
            </a:solidFill>
            <a:prstDash val="solid"/>
          </a:ln>
          <a:effectLst>
            <a:outerShdw blurRad="101600" dist="25400" dir="5400000" algn="bl" rotWithShape="0">
              <a:srgbClr val="000000">
                <a:alpha val="18000"/>
              </a:srgbClr>
            </a:outerShdw>
          </a:effectLst>
        </p:spPr>
      </p:sp>
      <p:sp>
        <p:nvSpPr>
          <p:cNvPr id="19" name="role-badge"/>
          <p:cNvSpPr/>
          <p:nvPr/>
        </p:nvSpPr>
        <p:spPr>
          <a:xfrm>
            <a:off x="5029200" y="3794760"/>
            <a:ext cx="502920" cy="502920"/>
          </a:xfrm>
          <a:prstGeom prst="ellipse">
            <a:avLst/>
          </a:prstGeom>
          <a:solidFill>
            <a:srgbClr val="1F5FA8"/>
          </a:solidFill>
          <a:ln w="12700">
            <a:solidFill>
              <a:srgbClr val="1F5FA8"/>
            </a:solidFill>
            <a:prstDash val="solid"/>
          </a:ln>
        </p:spPr>
      </p:sp>
      <p:sp>
        <p:nvSpPr>
          <p:cNvPr id="20" name="Text 17"/>
          <p:cNvSpPr txBox="1"/>
          <p:nvPr/>
        </p:nvSpPr>
        <p:spPr>
          <a:xfrm>
            <a:off x="5029200" y="3794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21" name="Text 18"/>
          <p:cNvSpPr txBox="1"/>
          <p:nvPr/>
        </p:nvSpPr>
        <p:spPr>
          <a:xfrm>
            <a:off x="5715000" y="3630168"/>
            <a:ext cx="2834640" cy="274320"/>
          </a:xfrm>
          <a:prstGeom prst="rect">
            <a:avLst/>
          </a:prstGeom>
          <a:noFill/>
          <a:ln/>
        </p:spPr>
        <p:txBody>
          <a:bodyPr wrap="square" lIns="0" tIns="0" rIns="0" bIns="0" rtlCol="0" anchor="t"/>
          <a:lstStyle/>
          <a:p>
            <a:pPr marL="0" indent="0">
              <a:buNone/>
            </a:pPr>
            <a:r>
              <a:rPr lang="en-US" sz="1600" b="1" dirty="0">
                <a:solidFill>
                  <a:srgbClr val="1B2A22"/>
                </a:solidFill>
                <a:latin typeface="Calibri" pitchFamily="34" charset="0"/>
                <a:ea typeface="Calibri" pitchFamily="34" charset="-122"/>
                <a:cs typeface="Calibri" pitchFamily="34" charset="-120"/>
              </a:rPr>
              <a:t>Administrator  </a:t>
            </a:r>
            <a:r>
              <a:rPr lang="en-US" sz="1100" dirty="0">
                <a:solidFill>
                  <a:srgbClr val="5A6B62"/>
                </a:solidFill>
                <a:latin typeface="Consolas" pitchFamily="34" charset="0"/>
                <a:ea typeface="Consolas" pitchFamily="34" charset="-122"/>
                <a:cs typeface="Consolas" pitchFamily="34" charset="-120"/>
              </a:rPr>
              <a:t>ADMIN</a:t>
            </a:r>
            <a:endParaRPr lang="en-US" sz="1600" dirty="0"/>
          </a:p>
        </p:txBody>
      </p:sp>
      <p:sp>
        <p:nvSpPr>
          <p:cNvPr id="22" name="Text 19"/>
          <p:cNvSpPr txBox="1"/>
          <p:nvPr/>
        </p:nvSpPr>
        <p:spPr>
          <a:xfrm>
            <a:off x="5715000" y="3931920"/>
            <a:ext cx="2834640" cy="594360"/>
          </a:xfrm>
          <a:prstGeom prst="rect">
            <a:avLst/>
          </a:prstGeom>
          <a:noFill/>
          <a:ln/>
        </p:spPr>
        <p:txBody>
          <a:bodyPr wrap="square" lIns="0" tIns="0" rIns="0" bIns="0" rtlCol="0" anchor="t"/>
          <a:lstStyle/>
          <a:p>
            <a:pPr marL="0" indent="0">
              <a:buNone/>
            </a:pPr>
            <a:r>
              <a:rPr lang="en-US" sz="1200" dirty="0">
                <a:solidFill>
                  <a:srgbClr val="5A6B62"/>
                </a:solidFill>
                <a:latin typeface="Calibri" pitchFamily="34" charset="0"/>
                <a:ea typeface="Calibri" pitchFamily="34" charset="-122"/>
                <a:cs typeface="Calibri" pitchFamily="34" charset="-120"/>
              </a:rPr>
              <a:t>Everything staff can do, plus add, edit and delete menu items and categories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rgbClr val="14382A"/>
                </a:solidFill>
                <a:latin typeface="Cambria" pitchFamily="34" charset="0"/>
                <a:ea typeface="Cambria" pitchFamily="34" charset="-122"/>
                <a:cs typeface="Cambria" pitchFamily="34" charset="-120"/>
              </a:rPr>
              <a:t>From ER design to relational schema</a:t>
            </a:r>
            <a:endParaRPr lang="en-US" sz="3200" dirty="0"/>
          </a:p>
        </p:txBody>
      </p:sp>
      <p:pic>
        <p:nvPicPr>
          <p:cNvPr id="4" name="er-diagram" descr="ER diagram"/>
          <p:cNvPicPr>
            <a:picLocks noChangeAspect="1"/>
          </p:cNvPicPr>
          <p:nvPr/>
        </p:nvPicPr>
        <p:blipFill>
          <a:blip r:embed="rId3"/>
          <a:stretch>
            <a:fillRect/>
          </a:stretch>
        </p:blipFill>
        <p:spPr>
          <a:xfrm>
            <a:off x="457200" y="1051560"/>
            <a:ext cx="4206240" cy="2807208"/>
          </a:xfrm>
          <a:prstGeom prst="rect">
            <a:avLst/>
          </a:prstGeom>
          <a:effectLst>
            <a:outerShdw blurRad="101600" dist="25400" dir="5400000" algn="bl" rotWithShape="0">
              <a:srgbClr val="000000">
                <a:alpha val="18000"/>
              </a:srgbClr>
            </a:outerShdw>
          </a:effectLst>
        </p:spPr>
      </p:pic>
      <p:sp>
        <p:nvSpPr>
          <p:cNvPr id="5" name="Text 1"/>
          <p:cNvSpPr txBox="1"/>
          <p:nvPr/>
        </p:nvSpPr>
        <p:spPr>
          <a:xfrm>
            <a:off x="457200" y="3886200"/>
            <a:ext cx="4206240" cy="274320"/>
          </a:xfrm>
          <a:prstGeom prst="rect">
            <a:avLst/>
          </a:prstGeom>
          <a:noFill/>
          <a:ln/>
        </p:spPr>
        <p:txBody>
          <a:bodyPr wrap="square" lIns="0" tIns="0" rIns="0" bIns="0" rtlCol="0" anchor="t"/>
          <a:lstStyle/>
          <a:p>
            <a:pPr marL="0" indent="0" algn="ctr">
              <a:buNone/>
            </a:pPr>
            <a:r>
              <a:rPr lang="en-US" sz="1100" i="1" dirty="0">
                <a:solidFill>
                  <a:srgbClr val="5A6B62"/>
                </a:solidFill>
                <a:latin typeface="Calibri" pitchFamily="34" charset="0"/>
                <a:ea typeface="Calibri" pitchFamily="34" charset="-122"/>
                <a:cs typeface="Calibri" pitchFamily="34" charset="-120"/>
              </a:rPr>
              <a:t>ER diagram: 10 entities, 9 relationships</a:t>
            </a:r>
            <a:endParaRPr lang="en-US" sz="1100" dirty="0"/>
          </a:p>
        </p:txBody>
      </p:sp>
      <p:pic>
        <p:nvPicPr>
          <p:cNvPr id="6" name="relational-schema" descr="Relational schema"/>
          <p:cNvPicPr>
            <a:picLocks noChangeAspect="1"/>
          </p:cNvPicPr>
          <p:nvPr/>
        </p:nvPicPr>
        <p:blipFill>
          <a:blip r:embed="rId4"/>
          <a:stretch>
            <a:fillRect/>
          </a:stretch>
        </p:blipFill>
        <p:spPr>
          <a:xfrm>
            <a:off x="5029200" y="1051560"/>
            <a:ext cx="3291840" cy="2807208"/>
          </a:xfrm>
          <a:prstGeom prst="rect">
            <a:avLst/>
          </a:prstGeom>
          <a:effectLst>
            <a:outerShdw blurRad="101600" dist="25400" dir="5400000" algn="bl" rotWithShape="0">
              <a:srgbClr val="000000">
                <a:alpha val="18000"/>
              </a:srgbClr>
            </a:outerShdw>
          </a:effectLst>
        </p:spPr>
      </p:pic>
      <p:sp>
        <p:nvSpPr>
          <p:cNvPr id="7" name="Text 2"/>
          <p:cNvSpPr txBox="1"/>
          <p:nvPr/>
        </p:nvSpPr>
        <p:spPr>
          <a:xfrm>
            <a:off x="5029200" y="3886200"/>
            <a:ext cx="3291840" cy="274320"/>
          </a:xfrm>
          <a:prstGeom prst="rect">
            <a:avLst/>
          </a:prstGeom>
          <a:noFill/>
          <a:ln/>
        </p:spPr>
        <p:txBody>
          <a:bodyPr wrap="square" lIns="0" tIns="0" rIns="0" bIns="0" rtlCol="0" anchor="t"/>
          <a:lstStyle/>
          <a:p>
            <a:pPr marL="0" indent="0" algn="ctr">
              <a:buNone/>
            </a:pPr>
            <a:r>
              <a:rPr lang="en-US" sz="1100" i="1" dirty="0">
                <a:solidFill>
                  <a:srgbClr val="5A6B62"/>
                </a:solidFill>
                <a:latin typeface="Calibri" pitchFamily="34" charset="0"/>
                <a:ea typeface="Calibri" pitchFamily="34" charset="-122"/>
                <a:cs typeface="Calibri" pitchFamily="34" charset="-120"/>
              </a:rPr>
              <a:t>Relational schema: PK bold, FK italic</a:t>
            </a:r>
            <a:endParaRPr lang="en-US" sz="1100" dirty="0"/>
          </a:p>
        </p:txBody>
      </p:sp>
      <p:sp>
        <p:nvSpPr>
          <p:cNvPr id="8" name="er-note"/>
          <p:cNvSpPr/>
          <p:nvPr/>
        </p:nvSpPr>
        <p:spPr>
          <a:xfrm>
            <a:off x="457200" y="4251960"/>
            <a:ext cx="8229600" cy="457200"/>
          </a:xfrm>
          <a:prstGeom prst="roundRect">
            <a:avLst>
              <a:gd name="adj" fmla="val 16000"/>
            </a:avLst>
          </a:prstGeom>
          <a:solidFill>
            <a:srgbClr val="14382A"/>
          </a:solidFill>
          <a:ln w="9525">
            <a:solidFill>
              <a:srgbClr val="14382A"/>
            </a:solidFill>
            <a:prstDash val="solid"/>
          </a:ln>
        </p:spPr>
      </p:sp>
      <p:sp>
        <p:nvSpPr>
          <p:cNvPr id="9" name="Text 4"/>
          <p:cNvSpPr txBox="1"/>
          <p:nvPr/>
        </p:nvSpPr>
        <p:spPr>
          <a:xfrm>
            <a:off x="640080" y="4251960"/>
            <a:ext cx="78638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Order lines keep the price at order time · one order → one bill → many payment attempts · M : N links use junction tables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rgbClr val="14382A"/>
                </a:solidFill>
                <a:latin typeface="Cambria" pitchFamily="34" charset="0"/>
                <a:ea typeface="Cambria" pitchFamily="34" charset="-122"/>
                <a:cs typeface="Cambria" pitchFamily="34" charset="-120"/>
              </a:rPr>
              <a:t>Normalized to 3NF, enforced in MySQL</a:t>
            </a:r>
            <a:endParaRPr lang="en-US" sz="3200" dirty="0"/>
          </a:p>
        </p:txBody>
      </p:sp>
      <p:sp>
        <p:nvSpPr>
          <p:cNvPr id="4" name="nf-card"/>
          <p:cNvSpPr/>
          <p:nvPr/>
        </p:nvSpPr>
        <p:spPr>
          <a:xfrm>
            <a:off x="457200" y="1143000"/>
            <a:ext cx="1463040" cy="1920240"/>
          </a:xfrm>
          <a:prstGeom prst="roundRect">
            <a:avLst>
              <a:gd name="adj" fmla="val 5000"/>
            </a:avLst>
          </a:prstGeom>
          <a:solidFill>
            <a:srgbClr val="FFFFFF"/>
          </a:solidFill>
          <a:ln w="9525">
            <a:solidFill>
              <a:srgbClr val="D5DED8"/>
            </a:solidFill>
            <a:prstDash val="solid"/>
          </a:ln>
          <a:effectLst>
            <a:outerShdw blurRad="101600" dist="25400" dir="5400000" algn="bl" rotWithShape="0">
              <a:srgbClr val="000000">
                <a:alpha val="18000"/>
              </a:srgbClr>
            </a:outerShdw>
          </a:effectLst>
        </p:spPr>
      </p:sp>
      <p:sp>
        <p:nvSpPr>
          <p:cNvPr id="5" name="Text 2"/>
          <p:cNvSpPr txBox="1"/>
          <p:nvPr/>
        </p:nvSpPr>
        <p:spPr>
          <a:xfrm>
            <a:off x="566928" y="1216152"/>
            <a:ext cx="1280160" cy="457200"/>
          </a:xfrm>
          <a:prstGeom prst="rect">
            <a:avLst/>
          </a:prstGeom>
          <a:noFill/>
          <a:ln/>
        </p:spPr>
        <p:txBody>
          <a:bodyPr wrap="square" lIns="0" tIns="0" rIns="0" bIns="0" rtlCol="0" anchor="t"/>
          <a:lstStyle/>
          <a:p>
            <a:pPr marL="0" indent="0">
              <a:buNone/>
            </a:pPr>
            <a:r>
              <a:rPr lang="en-US" sz="2600" b="1" dirty="0">
                <a:solidFill>
                  <a:srgbClr val="2E7D4F"/>
                </a:solidFill>
                <a:latin typeface="Cambria" pitchFamily="34" charset="0"/>
                <a:ea typeface="Cambria" pitchFamily="34" charset="-122"/>
                <a:cs typeface="Cambria" pitchFamily="34" charset="-120"/>
              </a:rPr>
              <a:t>1NF</a:t>
            </a:r>
            <a:endParaRPr lang="en-US" sz="2600" dirty="0"/>
          </a:p>
        </p:txBody>
      </p:sp>
      <p:sp>
        <p:nvSpPr>
          <p:cNvPr id="6" name="Text 3"/>
          <p:cNvSpPr txBox="1"/>
          <p:nvPr/>
        </p:nvSpPr>
        <p:spPr>
          <a:xfrm>
            <a:off x="566928" y="1691640"/>
            <a:ext cx="1280160" cy="457200"/>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Atomic values</a:t>
            </a:r>
            <a:endParaRPr lang="en-US" sz="1200" dirty="0"/>
          </a:p>
        </p:txBody>
      </p:sp>
      <p:sp>
        <p:nvSpPr>
          <p:cNvPr id="7" name="Text 4"/>
          <p:cNvSpPr txBox="1"/>
          <p:nvPr/>
        </p:nvSpPr>
        <p:spPr>
          <a:xfrm>
            <a:off x="566928" y="2194560"/>
            <a:ext cx="1280160" cy="822960"/>
          </a:xfrm>
          <a:prstGeom prst="rect">
            <a:avLst/>
          </a:prstGeom>
          <a:noFill/>
          <a:ln/>
        </p:spPr>
        <p:txBody>
          <a:bodyPr wrap="square" lIns="0" tIns="0" rIns="0" bIns="0" rtlCol="0" anchor="t"/>
          <a:lstStyle/>
          <a:p>
            <a:pPr marL="0" indent="0">
              <a:buNone/>
            </a:pPr>
            <a:r>
              <a:rPr lang="en-US" sz="1100" dirty="0">
                <a:solidFill>
                  <a:srgbClr val="5A6B62"/>
                </a:solidFill>
                <a:latin typeface="Calibri" pitchFamily="34" charset="0"/>
                <a:ea typeface="Calibri" pitchFamily="34" charset="-122"/>
                <a:cs typeface="Calibri" pitchFamily="34" charset="-120"/>
              </a:rPr>
              <a:t>Each item in an order is its own ORDER_ITEM row.</a:t>
            </a:r>
            <a:endParaRPr lang="en-US" sz="1100" dirty="0"/>
          </a:p>
        </p:txBody>
      </p:sp>
      <p:sp>
        <p:nvSpPr>
          <p:cNvPr id="8" name="nf-card"/>
          <p:cNvSpPr/>
          <p:nvPr/>
        </p:nvSpPr>
        <p:spPr>
          <a:xfrm>
            <a:off x="2057400" y="1143000"/>
            <a:ext cx="1463040" cy="1920240"/>
          </a:xfrm>
          <a:prstGeom prst="roundRect">
            <a:avLst>
              <a:gd name="adj" fmla="val 5000"/>
            </a:avLst>
          </a:prstGeom>
          <a:solidFill>
            <a:srgbClr val="FFFFFF"/>
          </a:solidFill>
          <a:ln w="9525">
            <a:solidFill>
              <a:srgbClr val="D5DED8"/>
            </a:solidFill>
            <a:prstDash val="solid"/>
          </a:ln>
          <a:effectLst>
            <a:outerShdw blurRad="101600" dist="25400" dir="5400000" algn="bl" rotWithShape="0">
              <a:srgbClr val="000000">
                <a:alpha val="18000"/>
              </a:srgbClr>
            </a:outerShdw>
          </a:effectLst>
        </p:spPr>
      </p:sp>
      <p:sp>
        <p:nvSpPr>
          <p:cNvPr id="9" name="Text 6"/>
          <p:cNvSpPr txBox="1"/>
          <p:nvPr/>
        </p:nvSpPr>
        <p:spPr>
          <a:xfrm>
            <a:off x="2167128" y="1216152"/>
            <a:ext cx="1280160" cy="457200"/>
          </a:xfrm>
          <a:prstGeom prst="rect">
            <a:avLst/>
          </a:prstGeom>
          <a:noFill/>
          <a:ln/>
        </p:spPr>
        <p:txBody>
          <a:bodyPr wrap="square" lIns="0" tIns="0" rIns="0" bIns="0" rtlCol="0" anchor="t"/>
          <a:lstStyle/>
          <a:p>
            <a:pPr marL="0" indent="0">
              <a:buNone/>
            </a:pPr>
            <a:r>
              <a:rPr lang="en-US" sz="2600" b="1" dirty="0">
                <a:solidFill>
                  <a:srgbClr val="2E7D4F"/>
                </a:solidFill>
                <a:latin typeface="Cambria" pitchFamily="34" charset="0"/>
                <a:ea typeface="Cambria" pitchFamily="34" charset="-122"/>
                <a:cs typeface="Cambria" pitchFamily="34" charset="-120"/>
              </a:rPr>
              <a:t>2NF</a:t>
            </a:r>
            <a:endParaRPr lang="en-US" sz="2600" dirty="0"/>
          </a:p>
        </p:txBody>
      </p:sp>
      <p:sp>
        <p:nvSpPr>
          <p:cNvPr id="10" name="Text 7"/>
          <p:cNvSpPr txBox="1"/>
          <p:nvPr/>
        </p:nvSpPr>
        <p:spPr>
          <a:xfrm>
            <a:off x="2167128" y="1691640"/>
            <a:ext cx="1280160" cy="457200"/>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No partial dependencies</a:t>
            </a:r>
            <a:endParaRPr lang="en-US" sz="1200" dirty="0"/>
          </a:p>
        </p:txBody>
      </p:sp>
      <p:sp>
        <p:nvSpPr>
          <p:cNvPr id="11" name="Text 8"/>
          <p:cNvSpPr txBox="1"/>
          <p:nvPr/>
        </p:nvSpPr>
        <p:spPr>
          <a:xfrm>
            <a:off x="2167128" y="2194560"/>
            <a:ext cx="1280160" cy="822960"/>
          </a:xfrm>
          <a:prstGeom prst="rect">
            <a:avLst/>
          </a:prstGeom>
          <a:noFill/>
          <a:ln/>
        </p:spPr>
        <p:txBody>
          <a:bodyPr wrap="square" lIns="0" tIns="0" rIns="0" bIns="0" rtlCol="0" anchor="t"/>
          <a:lstStyle/>
          <a:p>
            <a:pPr marL="0" indent="0">
              <a:buNone/>
            </a:pPr>
            <a:r>
              <a:rPr lang="en-US" sz="1100" dirty="0">
                <a:solidFill>
                  <a:srgbClr val="5A6B62"/>
                </a:solidFill>
                <a:latin typeface="Calibri" pitchFamily="34" charset="0"/>
                <a:ea typeface="Calibri" pitchFamily="34" charset="-122"/>
                <a:cs typeface="Calibri" pitchFamily="34" charset="-120"/>
              </a:rPr>
              <a:t>Only the junction table has a composite key.</a:t>
            </a:r>
            <a:endParaRPr lang="en-US" sz="1100" dirty="0"/>
          </a:p>
        </p:txBody>
      </p:sp>
      <p:sp>
        <p:nvSpPr>
          <p:cNvPr id="12" name="nf-card"/>
          <p:cNvSpPr/>
          <p:nvPr/>
        </p:nvSpPr>
        <p:spPr>
          <a:xfrm>
            <a:off x="3657600" y="1143000"/>
            <a:ext cx="1463040" cy="1920240"/>
          </a:xfrm>
          <a:prstGeom prst="roundRect">
            <a:avLst>
              <a:gd name="adj" fmla="val 5000"/>
            </a:avLst>
          </a:prstGeom>
          <a:solidFill>
            <a:srgbClr val="FFFFFF"/>
          </a:solidFill>
          <a:ln w="9525">
            <a:solidFill>
              <a:srgbClr val="D5DED8"/>
            </a:solidFill>
            <a:prstDash val="solid"/>
          </a:ln>
          <a:effectLst>
            <a:outerShdw blurRad="101600" dist="25400" dir="5400000" algn="bl" rotWithShape="0">
              <a:srgbClr val="000000">
                <a:alpha val="18000"/>
              </a:srgbClr>
            </a:outerShdw>
          </a:effectLst>
        </p:spPr>
      </p:sp>
      <p:sp>
        <p:nvSpPr>
          <p:cNvPr id="13" name="Text 10"/>
          <p:cNvSpPr txBox="1"/>
          <p:nvPr/>
        </p:nvSpPr>
        <p:spPr>
          <a:xfrm>
            <a:off x="3767328" y="1216152"/>
            <a:ext cx="1280160" cy="457200"/>
          </a:xfrm>
          <a:prstGeom prst="rect">
            <a:avLst/>
          </a:prstGeom>
          <a:noFill/>
          <a:ln/>
        </p:spPr>
        <p:txBody>
          <a:bodyPr wrap="square" lIns="0" tIns="0" rIns="0" bIns="0" rtlCol="0" anchor="t"/>
          <a:lstStyle/>
          <a:p>
            <a:pPr marL="0" indent="0">
              <a:buNone/>
            </a:pPr>
            <a:r>
              <a:rPr lang="en-US" sz="2600" b="1" dirty="0">
                <a:solidFill>
                  <a:srgbClr val="E4A11B"/>
                </a:solidFill>
                <a:latin typeface="Cambria" pitchFamily="34" charset="0"/>
                <a:ea typeface="Cambria" pitchFamily="34" charset="-122"/>
                <a:cs typeface="Cambria" pitchFamily="34" charset="-120"/>
              </a:rPr>
              <a:t>3NF</a:t>
            </a:r>
            <a:endParaRPr lang="en-US" sz="2600" dirty="0"/>
          </a:p>
        </p:txBody>
      </p:sp>
      <p:sp>
        <p:nvSpPr>
          <p:cNvPr id="14" name="Text 11"/>
          <p:cNvSpPr txBox="1"/>
          <p:nvPr/>
        </p:nvSpPr>
        <p:spPr>
          <a:xfrm>
            <a:off x="3767328" y="1691640"/>
            <a:ext cx="1280160" cy="457200"/>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No transitive dependencies</a:t>
            </a:r>
            <a:endParaRPr lang="en-US" sz="1200" dirty="0"/>
          </a:p>
        </p:txBody>
      </p:sp>
      <p:sp>
        <p:nvSpPr>
          <p:cNvPr id="15" name="Text 12"/>
          <p:cNvSpPr txBox="1"/>
          <p:nvPr/>
        </p:nvSpPr>
        <p:spPr>
          <a:xfrm>
            <a:off x="3767328" y="2194560"/>
            <a:ext cx="1280160" cy="822960"/>
          </a:xfrm>
          <a:prstGeom prst="rect">
            <a:avLst/>
          </a:prstGeom>
          <a:noFill/>
          <a:ln/>
        </p:spPr>
        <p:txBody>
          <a:bodyPr wrap="square" lIns="0" tIns="0" rIns="0" bIns="0" rtlCol="0" anchor="t"/>
          <a:lstStyle/>
          <a:p>
            <a:pPr marL="0" indent="0">
              <a:buNone/>
            </a:pPr>
            <a:r>
              <a:rPr lang="en-US" sz="1100" dirty="0">
                <a:solidFill>
                  <a:srgbClr val="5A6B62"/>
                </a:solidFill>
                <a:latin typeface="Calibri" pitchFamily="34" charset="0"/>
                <a:ea typeface="Calibri" pitchFamily="34" charset="-122"/>
                <a:cs typeface="Calibri" pitchFamily="34" charset="-120"/>
              </a:rPr>
              <a:t>Customer, category and stock data live in their own tables.</a:t>
            </a:r>
            <a:endParaRPr lang="en-US" sz="1100" dirty="0"/>
          </a:p>
        </p:txBody>
      </p:sp>
      <p:sp>
        <p:nvSpPr>
          <p:cNvPr id="16" name="stat"/>
          <p:cNvSpPr/>
          <p:nvPr/>
        </p:nvSpPr>
        <p:spPr>
          <a:xfrm>
            <a:off x="5394960" y="1143000"/>
            <a:ext cx="1600200" cy="868680"/>
          </a:xfrm>
          <a:prstGeom prst="roundRect">
            <a:avLst>
              <a:gd name="adj" fmla="val 8421"/>
            </a:avLst>
          </a:prstGeom>
          <a:solidFill>
            <a:srgbClr val="14382A"/>
          </a:solidFill>
          <a:ln w="9525">
            <a:solidFill>
              <a:srgbClr val="14382A"/>
            </a:solidFill>
            <a:prstDash val="solid"/>
          </a:ln>
        </p:spPr>
      </p:sp>
      <p:sp>
        <p:nvSpPr>
          <p:cNvPr id="17" name="Text 14"/>
          <p:cNvSpPr txBox="1"/>
          <p:nvPr/>
        </p:nvSpPr>
        <p:spPr>
          <a:xfrm>
            <a:off x="5394960" y="1170432"/>
            <a:ext cx="1600200" cy="50292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10</a:t>
            </a:r>
            <a:endParaRPr lang="en-US" sz="2800" dirty="0"/>
          </a:p>
        </p:txBody>
      </p:sp>
      <p:sp>
        <p:nvSpPr>
          <p:cNvPr id="18" name="Text 15"/>
          <p:cNvSpPr txBox="1"/>
          <p:nvPr/>
        </p:nvSpPr>
        <p:spPr>
          <a:xfrm>
            <a:off x="5394960" y="1691640"/>
            <a:ext cx="1600200" cy="274320"/>
          </a:xfrm>
          <a:prstGeom prst="rect">
            <a:avLst/>
          </a:prstGeom>
          <a:noFill/>
          <a:ln/>
        </p:spPr>
        <p:txBody>
          <a:bodyPr wrap="square" lIns="0" tIns="0" rIns="0" bIns="0" rtlCol="0" anchor="t"/>
          <a:lstStyle/>
          <a:p>
            <a:pPr marL="0" indent="0" algn="ctr">
              <a:buNone/>
            </a:pPr>
            <a:r>
              <a:rPr lang="en-US" sz="1100" dirty="0">
                <a:solidFill>
                  <a:srgbClr val="CFE3D6"/>
                </a:solidFill>
                <a:latin typeface="Calibri" pitchFamily="34" charset="0"/>
                <a:ea typeface="Calibri" pitchFamily="34" charset="-122"/>
                <a:cs typeface="Calibri" pitchFamily="34" charset="-120"/>
              </a:rPr>
              <a:t>tables + view</a:t>
            </a:r>
            <a:endParaRPr lang="en-US" sz="1100" dirty="0"/>
          </a:p>
        </p:txBody>
      </p:sp>
      <p:sp>
        <p:nvSpPr>
          <p:cNvPr id="19" name="stat"/>
          <p:cNvSpPr/>
          <p:nvPr/>
        </p:nvSpPr>
        <p:spPr>
          <a:xfrm>
            <a:off x="7132320" y="1143000"/>
            <a:ext cx="1600200" cy="868680"/>
          </a:xfrm>
          <a:prstGeom prst="roundRect">
            <a:avLst>
              <a:gd name="adj" fmla="val 8421"/>
            </a:avLst>
          </a:prstGeom>
          <a:solidFill>
            <a:srgbClr val="14382A"/>
          </a:solidFill>
          <a:ln w="9525">
            <a:solidFill>
              <a:srgbClr val="14382A"/>
            </a:solidFill>
            <a:prstDash val="solid"/>
          </a:ln>
        </p:spPr>
      </p:sp>
      <p:sp>
        <p:nvSpPr>
          <p:cNvPr id="20" name="Text 17"/>
          <p:cNvSpPr txBox="1"/>
          <p:nvPr/>
        </p:nvSpPr>
        <p:spPr>
          <a:xfrm>
            <a:off x="7132320" y="1170432"/>
            <a:ext cx="1600200" cy="50292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9</a:t>
            </a:r>
            <a:endParaRPr lang="en-US" sz="2800" dirty="0"/>
          </a:p>
        </p:txBody>
      </p:sp>
      <p:sp>
        <p:nvSpPr>
          <p:cNvPr id="21" name="Text 18"/>
          <p:cNvSpPr txBox="1"/>
          <p:nvPr/>
        </p:nvSpPr>
        <p:spPr>
          <a:xfrm>
            <a:off x="7132320" y="1691640"/>
            <a:ext cx="1600200" cy="274320"/>
          </a:xfrm>
          <a:prstGeom prst="rect">
            <a:avLst/>
          </a:prstGeom>
          <a:noFill/>
          <a:ln/>
        </p:spPr>
        <p:txBody>
          <a:bodyPr wrap="square" lIns="0" tIns="0" rIns="0" bIns="0" rtlCol="0" anchor="t"/>
          <a:lstStyle/>
          <a:p>
            <a:pPr marL="0" indent="0" algn="ctr">
              <a:buNone/>
            </a:pPr>
            <a:r>
              <a:rPr lang="en-US" sz="1100" dirty="0">
                <a:solidFill>
                  <a:srgbClr val="CFE3D6"/>
                </a:solidFill>
                <a:latin typeface="Calibri" pitchFamily="34" charset="0"/>
                <a:ea typeface="Calibri" pitchFamily="34" charset="-122"/>
                <a:cs typeface="Calibri" pitchFamily="34" charset="-120"/>
              </a:rPr>
              <a:t>foreign keys</a:t>
            </a:r>
            <a:endParaRPr lang="en-US" sz="1100" dirty="0"/>
          </a:p>
        </p:txBody>
      </p:sp>
      <p:sp>
        <p:nvSpPr>
          <p:cNvPr id="22" name="stat"/>
          <p:cNvSpPr/>
          <p:nvPr/>
        </p:nvSpPr>
        <p:spPr>
          <a:xfrm>
            <a:off x="5394960" y="2148840"/>
            <a:ext cx="1600200" cy="868680"/>
          </a:xfrm>
          <a:prstGeom prst="roundRect">
            <a:avLst>
              <a:gd name="adj" fmla="val 8421"/>
            </a:avLst>
          </a:prstGeom>
          <a:solidFill>
            <a:srgbClr val="14382A"/>
          </a:solidFill>
          <a:ln w="9525">
            <a:solidFill>
              <a:srgbClr val="14382A"/>
            </a:solidFill>
            <a:prstDash val="solid"/>
          </a:ln>
        </p:spPr>
      </p:sp>
      <p:sp>
        <p:nvSpPr>
          <p:cNvPr id="23" name="Text 20"/>
          <p:cNvSpPr txBox="1"/>
          <p:nvPr/>
        </p:nvSpPr>
        <p:spPr>
          <a:xfrm>
            <a:off x="5394960" y="2176272"/>
            <a:ext cx="1600200" cy="50292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17</a:t>
            </a:r>
            <a:endParaRPr lang="en-US" sz="2800" dirty="0"/>
          </a:p>
        </p:txBody>
      </p:sp>
      <p:sp>
        <p:nvSpPr>
          <p:cNvPr id="24" name="Text 21"/>
          <p:cNvSpPr txBox="1"/>
          <p:nvPr/>
        </p:nvSpPr>
        <p:spPr>
          <a:xfrm>
            <a:off x="5394960" y="2697480"/>
            <a:ext cx="1600200" cy="274320"/>
          </a:xfrm>
          <a:prstGeom prst="rect">
            <a:avLst/>
          </a:prstGeom>
          <a:noFill/>
          <a:ln/>
        </p:spPr>
        <p:txBody>
          <a:bodyPr wrap="square" lIns="0" tIns="0" rIns="0" bIns="0" rtlCol="0" anchor="t"/>
          <a:lstStyle/>
          <a:p>
            <a:pPr marL="0" indent="0" algn="ctr">
              <a:buNone/>
            </a:pPr>
            <a:r>
              <a:rPr lang="en-US" sz="1100" dirty="0">
                <a:solidFill>
                  <a:srgbClr val="CFE3D6"/>
                </a:solidFill>
                <a:latin typeface="Calibri" pitchFamily="34" charset="0"/>
                <a:ea typeface="Calibri" pitchFamily="34" charset="-122"/>
                <a:cs typeface="Calibri" pitchFamily="34" charset="-120"/>
              </a:rPr>
              <a:t>CHECKs</a:t>
            </a:r>
            <a:endParaRPr lang="en-US" sz="1100" dirty="0"/>
          </a:p>
        </p:txBody>
      </p:sp>
      <p:sp>
        <p:nvSpPr>
          <p:cNvPr id="25" name="stat"/>
          <p:cNvSpPr/>
          <p:nvPr/>
        </p:nvSpPr>
        <p:spPr>
          <a:xfrm>
            <a:off x="7132320" y="2148840"/>
            <a:ext cx="1600200" cy="868680"/>
          </a:xfrm>
          <a:prstGeom prst="roundRect">
            <a:avLst>
              <a:gd name="adj" fmla="val 8421"/>
            </a:avLst>
          </a:prstGeom>
          <a:solidFill>
            <a:srgbClr val="14382A"/>
          </a:solidFill>
          <a:ln w="9525">
            <a:solidFill>
              <a:srgbClr val="14382A"/>
            </a:solidFill>
            <a:prstDash val="solid"/>
          </a:ln>
        </p:spPr>
      </p:sp>
      <p:sp>
        <p:nvSpPr>
          <p:cNvPr id="26" name="Text 23"/>
          <p:cNvSpPr txBox="1"/>
          <p:nvPr/>
        </p:nvSpPr>
        <p:spPr>
          <a:xfrm>
            <a:off x="7132320" y="2176272"/>
            <a:ext cx="1600200" cy="50292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9</a:t>
            </a:r>
            <a:endParaRPr lang="en-US" sz="2800" dirty="0"/>
          </a:p>
        </p:txBody>
      </p:sp>
      <p:sp>
        <p:nvSpPr>
          <p:cNvPr id="27" name="Text 24"/>
          <p:cNvSpPr txBox="1"/>
          <p:nvPr/>
        </p:nvSpPr>
        <p:spPr>
          <a:xfrm>
            <a:off x="7132320" y="2697480"/>
            <a:ext cx="1600200" cy="274320"/>
          </a:xfrm>
          <a:prstGeom prst="rect">
            <a:avLst/>
          </a:prstGeom>
          <a:noFill/>
          <a:ln/>
        </p:spPr>
        <p:txBody>
          <a:bodyPr wrap="square" lIns="0" tIns="0" rIns="0" bIns="0" rtlCol="0" anchor="t"/>
          <a:lstStyle/>
          <a:p>
            <a:pPr marL="0" indent="0" algn="ctr">
              <a:buNone/>
            </a:pPr>
            <a:r>
              <a:rPr lang="en-US" sz="1100" dirty="0">
                <a:solidFill>
                  <a:srgbClr val="CFE3D6"/>
                </a:solidFill>
                <a:latin typeface="Calibri" pitchFamily="34" charset="0"/>
                <a:ea typeface="Calibri" pitchFamily="34" charset="-122"/>
                <a:cs typeface="Calibri" pitchFamily="34" charset="-120"/>
              </a:rPr>
              <a:t>UNIQUE keys</a:t>
            </a:r>
            <a:endParaRPr lang="en-US" sz="1100" dirty="0"/>
          </a:p>
        </p:txBody>
      </p:sp>
      <p:sp>
        <p:nvSpPr>
          <p:cNvPr id="28" name="rule"/>
          <p:cNvSpPr/>
          <p:nvPr/>
        </p:nvSpPr>
        <p:spPr>
          <a:xfrm>
            <a:off x="457200" y="3337560"/>
            <a:ext cx="2606040" cy="1280160"/>
          </a:xfrm>
          <a:prstGeom prst="roundRect">
            <a:avLst>
              <a:gd name="adj" fmla="val 5714"/>
            </a:avLst>
          </a:prstGeom>
          <a:solidFill>
            <a:srgbClr val="F3F6F2"/>
          </a:solidFill>
          <a:ln w="9525">
            <a:solidFill>
              <a:srgbClr val="D5DED8"/>
            </a:solidFill>
            <a:prstDash val="solid"/>
          </a:ln>
        </p:spPr>
      </p:sp>
      <p:sp>
        <p:nvSpPr>
          <p:cNvPr id="29" name="Text 26"/>
          <p:cNvSpPr txBox="1"/>
          <p:nvPr/>
        </p:nvSpPr>
        <p:spPr>
          <a:xfrm>
            <a:off x="621792" y="3429000"/>
            <a:ext cx="2286000" cy="274320"/>
          </a:xfrm>
          <a:prstGeom prst="rect">
            <a:avLst/>
          </a:prstGeom>
          <a:noFill/>
          <a:ln/>
        </p:spPr>
        <p:txBody>
          <a:bodyPr wrap="square" lIns="0" tIns="0" rIns="0" bIns="0" rtlCol="0" anchor="t"/>
          <a:lstStyle/>
          <a:p>
            <a:pPr marL="0" indent="0">
              <a:buNone/>
            </a:pPr>
            <a:r>
              <a:rPr lang="en-US" sz="1400" b="1" dirty="0">
                <a:solidFill>
                  <a:srgbClr val="2E7D4F"/>
                </a:solidFill>
                <a:latin typeface="Calibri" pitchFamily="34" charset="0"/>
                <a:ea typeface="Calibri" pitchFamily="34" charset="-122"/>
                <a:cs typeface="Calibri" pitchFamily="34" charset="-120"/>
              </a:rPr>
              <a:t>Referential</a:t>
            </a:r>
            <a:endParaRPr lang="en-US" sz="1400" dirty="0"/>
          </a:p>
        </p:txBody>
      </p:sp>
      <p:sp>
        <p:nvSpPr>
          <p:cNvPr id="30" name="Text 27"/>
          <p:cNvSpPr txBox="1"/>
          <p:nvPr/>
        </p:nvSpPr>
        <p:spPr>
          <a:xfrm>
            <a:off x="621792" y="3749040"/>
            <a:ext cx="2286000" cy="822960"/>
          </a:xfrm>
          <a:prstGeom prst="rect">
            <a:avLst/>
          </a:prstGeom>
          <a:noFill/>
          <a:ln/>
        </p:spPr>
        <p:txBody>
          <a:bodyPr wrap="square" lIns="0" tIns="0" rIns="0" bIns="0" rtlCol="0" anchor="t"/>
          <a:lstStyle/>
          <a:p>
            <a:pPr marL="0" indent="0">
              <a:buNone/>
            </a:pPr>
            <a:r>
              <a:rPr lang="en-US" sz="1250" dirty="0">
                <a:solidFill>
                  <a:srgbClr val="5A6B62"/>
                </a:solidFill>
                <a:latin typeface="Calibri" pitchFamily="34" charset="0"/>
                <a:ea typeface="Calibri" pitchFamily="34" charset="-122"/>
                <a:cs typeface="Calibri" pitchFamily="34" charset="-120"/>
              </a:rPr>
              <a:t>RESTRICT protects users, orders, bills, payments and ordered items</a:t>
            </a:r>
            <a:endParaRPr lang="en-US" sz="1250" dirty="0"/>
          </a:p>
        </p:txBody>
      </p:sp>
      <p:sp>
        <p:nvSpPr>
          <p:cNvPr id="31" name="rule"/>
          <p:cNvSpPr/>
          <p:nvPr/>
        </p:nvSpPr>
        <p:spPr>
          <a:xfrm>
            <a:off x="3246120" y="3337560"/>
            <a:ext cx="2606040" cy="1280160"/>
          </a:xfrm>
          <a:prstGeom prst="roundRect">
            <a:avLst>
              <a:gd name="adj" fmla="val 5714"/>
            </a:avLst>
          </a:prstGeom>
          <a:solidFill>
            <a:srgbClr val="F3F6F2"/>
          </a:solidFill>
          <a:ln w="9525">
            <a:solidFill>
              <a:srgbClr val="D5DED8"/>
            </a:solidFill>
            <a:prstDash val="solid"/>
          </a:ln>
        </p:spPr>
      </p:sp>
      <p:sp>
        <p:nvSpPr>
          <p:cNvPr id="32" name="Text 29"/>
          <p:cNvSpPr txBox="1"/>
          <p:nvPr/>
        </p:nvSpPr>
        <p:spPr>
          <a:xfrm>
            <a:off x="3410712" y="3429000"/>
            <a:ext cx="2286000" cy="274320"/>
          </a:xfrm>
          <a:prstGeom prst="rect">
            <a:avLst/>
          </a:prstGeom>
          <a:noFill/>
          <a:ln/>
        </p:spPr>
        <p:txBody>
          <a:bodyPr wrap="square" lIns="0" tIns="0" rIns="0" bIns="0" rtlCol="0" anchor="t"/>
          <a:lstStyle/>
          <a:p>
            <a:pPr marL="0" indent="0">
              <a:buNone/>
            </a:pPr>
            <a:r>
              <a:rPr lang="en-US" sz="1400" b="1" dirty="0">
                <a:solidFill>
                  <a:srgbClr val="2E7D4F"/>
                </a:solidFill>
                <a:latin typeface="Calibri" pitchFamily="34" charset="0"/>
                <a:ea typeface="Calibri" pitchFamily="34" charset="-122"/>
                <a:cs typeface="Calibri" pitchFamily="34" charset="-120"/>
              </a:rPr>
              <a:t>Domain</a:t>
            </a:r>
            <a:endParaRPr lang="en-US" sz="1400" dirty="0"/>
          </a:p>
        </p:txBody>
      </p:sp>
      <p:sp>
        <p:nvSpPr>
          <p:cNvPr id="33" name="Text 30"/>
          <p:cNvSpPr txBox="1"/>
          <p:nvPr/>
        </p:nvSpPr>
        <p:spPr>
          <a:xfrm>
            <a:off x="3410712" y="3749040"/>
            <a:ext cx="2286000" cy="822960"/>
          </a:xfrm>
          <a:prstGeom prst="rect">
            <a:avLst/>
          </a:prstGeom>
          <a:noFill/>
          <a:ln/>
        </p:spPr>
        <p:txBody>
          <a:bodyPr wrap="square" lIns="0" tIns="0" rIns="0" bIns="0" rtlCol="0" anchor="t"/>
          <a:lstStyle/>
          <a:p>
            <a:pPr marL="0" indent="0">
              <a:buNone/>
            </a:pPr>
            <a:r>
              <a:rPr lang="en-US" sz="1250" dirty="0">
                <a:solidFill>
                  <a:srgbClr val="5A6B62"/>
                </a:solidFill>
                <a:latin typeface="Calibri" pitchFamily="34" charset="0"/>
                <a:ea typeface="Calibri" pitchFamily="34" charset="-122"/>
                <a:cs typeface="Calibri" pitchFamily="34" charset="-120"/>
              </a:rPr>
              <a:t>ENUM roles and statuses; price ≥ 0, quantity &gt; 0, rating 0–5</a:t>
            </a:r>
            <a:endParaRPr lang="en-US" sz="1250" dirty="0"/>
          </a:p>
        </p:txBody>
      </p:sp>
      <p:sp>
        <p:nvSpPr>
          <p:cNvPr id="34" name="rule"/>
          <p:cNvSpPr/>
          <p:nvPr/>
        </p:nvSpPr>
        <p:spPr>
          <a:xfrm>
            <a:off x="6035040" y="3337560"/>
            <a:ext cx="2606040" cy="1280160"/>
          </a:xfrm>
          <a:prstGeom prst="roundRect">
            <a:avLst>
              <a:gd name="adj" fmla="val 5714"/>
            </a:avLst>
          </a:prstGeom>
          <a:solidFill>
            <a:srgbClr val="F3F6F2"/>
          </a:solidFill>
          <a:ln w="9525">
            <a:solidFill>
              <a:srgbClr val="D5DED8"/>
            </a:solidFill>
            <a:prstDash val="solid"/>
          </a:ln>
        </p:spPr>
      </p:sp>
      <p:sp>
        <p:nvSpPr>
          <p:cNvPr id="35" name="Text 32"/>
          <p:cNvSpPr txBox="1"/>
          <p:nvPr/>
        </p:nvSpPr>
        <p:spPr>
          <a:xfrm>
            <a:off x="6199632" y="3429000"/>
            <a:ext cx="2286000" cy="274320"/>
          </a:xfrm>
          <a:prstGeom prst="rect">
            <a:avLst/>
          </a:prstGeom>
          <a:noFill/>
          <a:ln/>
        </p:spPr>
        <p:txBody>
          <a:bodyPr wrap="square" lIns="0" tIns="0" rIns="0" bIns="0" rtlCol="0" anchor="t"/>
          <a:lstStyle/>
          <a:p>
            <a:pPr marL="0" indent="0">
              <a:buNone/>
            </a:pPr>
            <a:r>
              <a:rPr lang="en-US" sz="1400" b="1" dirty="0">
                <a:solidFill>
                  <a:srgbClr val="2E7D4F"/>
                </a:solidFill>
                <a:latin typeface="Calibri" pitchFamily="34" charset="0"/>
                <a:ea typeface="Calibri" pitchFamily="34" charset="-122"/>
                <a:cs typeface="Calibri" pitchFamily="34" charset="-120"/>
              </a:rPr>
              <a:t>Business rules</a:t>
            </a:r>
            <a:endParaRPr lang="en-US" sz="1400" dirty="0"/>
          </a:p>
        </p:txBody>
      </p:sp>
      <p:sp>
        <p:nvSpPr>
          <p:cNvPr id="36" name="Text 33"/>
          <p:cNvSpPr txBox="1"/>
          <p:nvPr/>
        </p:nvSpPr>
        <p:spPr>
          <a:xfrm>
            <a:off x="6199632" y="3749040"/>
            <a:ext cx="2286000" cy="822960"/>
          </a:xfrm>
          <a:prstGeom prst="rect">
            <a:avLst/>
          </a:prstGeom>
          <a:noFill/>
          <a:ln/>
        </p:spPr>
        <p:txBody>
          <a:bodyPr wrap="square" lIns="0" tIns="0" rIns="0" bIns="0" rtlCol="0" anchor="t"/>
          <a:lstStyle/>
          <a:p>
            <a:pPr marL="0" indent="0">
              <a:buNone/>
            </a:pPr>
            <a:r>
              <a:rPr lang="en-US" sz="1250" dirty="0">
                <a:solidFill>
                  <a:srgbClr val="5A6B62"/>
                </a:solidFill>
                <a:latin typeface="Calibri" pitchFamily="34" charset="0"/>
                <a:ea typeface="Calibri" pitchFamily="34" charset="-122"/>
                <a:cs typeface="Calibri" pitchFamily="34" charset="-120"/>
              </a:rPr>
              <a:t>One bill per order; UPI needs a reference; bill total must add up</a:t>
            </a:r>
            <a:endParaRPr lang="en-US" sz="1250" dirty="0"/>
          </a:p>
        </p:txBody>
      </p:sp>
      <p:sp>
        <p:nvSpPr>
          <p:cNvPr id="3"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rgbClr val="14382A"/>
                </a:solidFill>
                <a:latin typeface="Cambria" pitchFamily="34" charset="0"/>
                <a:ea typeface="Cambria" pitchFamily="34" charset="-122"/>
                <a:cs typeface="Cambria" pitchFamily="34" charset="-120"/>
              </a:rPr>
              <a:t>One order = one ACID transaction</a:t>
            </a:r>
            <a:endParaRPr lang="en-US" sz="3200" dirty="0"/>
          </a:p>
        </p:txBody>
      </p:sp>
      <p:pic>
        <p:nvPicPr>
          <p:cNvPr id="4" name="order-flow" descr="Order transaction steps"/>
          <p:cNvPicPr>
            <a:picLocks noChangeAspect="1"/>
          </p:cNvPicPr>
          <p:nvPr/>
        </p:nvPicPr>
        <p:blipFill>
          <a:blip r:embed="rId3"/>
          <a:stretch>
            <a:fillRect/>
          </a:stretch>
        </p:blipFill>
        <p:spPr>
          <a:xfrm>
            <a:off x="457200" y="1051560"/>
            <a:ext cx="4754880" cy="1481328"/>
          </a:xfrm>
          <a:prstGeom prst="rect">
            <a:avLst/>
          </a:prstGeom>
        </p:spPr>
      </p:pic>
      <p:sp>
        <p:nvSpPr>
          <p:cNvPr id="5" name="Text 1"/>
          <p:cNvSpPr txBox="1"/>
          <p:nvPr/>
        </p:nvSpPr>
        <p:spPr>
          <a:xfrm>
            <a:off x="457200" y="2697480"/>
            <a:ext cx="475488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B2A22"/>
                </a:solidFill>
                <a:latin typeface="Calibri" pitchFamily="34" charset="0"/>
                <a:ea typeface="Calibri" pitchFamily="34" charset="-122"/>
                <a:cs typeface="Calibri" pitchFamily="34" charset="-120"/>
              </a:rPr>
              <a:t>Atomic: all rows or none</a:t>
            </a:r>
            <a:endParaRPr lang="en-US" sz="1300" dirty="0"/>
          </a:p>
          <a:p>
            <a:pPr marL="342900" indent="-342900">
              <a:spcAft>
                <a:spcPts val="300"/>
              </a:spcAft>
              <a:buSzPct val="100000"/>
              <a:buChar char="•"/>
            </a:pPr>
            <a:r>
              <a:rPr lang="en-US" sz="1300" dirty="0">
                <a:solidFill>
                  <a:srgbClr val="1B2A22"/>
                </a:solidFill>
                <a:latin typeface="Calibri" pitchFamily="34" charset="0"/>
                <a:ea typeface="Calibri" pitchFamily="34" charset="-122"/>
                <a:cs typeface="Calibri" pitchFamily="34" charset="-120"/>
              </a:rPr>
              <a:t>Locked: SELECT … FOR UPDATE on stock</a:t>
            </a:r>
            <a:endParaRPr lang="en-US" sz="1300" dirty="0"/>
          </a:p>
          <a:p>
            <a:pPr marL="342900" indent="-342900">
              <a:spcAft>
                <a:spcPts val="300"/>
              </a:spcAft>
              <a:buSzPct val="100000"/>
              <a:buChar char="•"/>
            </a:pPr>
            <a:r>
              <a:rPr lang="en-US" sz="1300" dirty="0">
                <a:solidFill>
                  <a:srgbClr val="1B2A22"/>
                </a:solidFill>
                <a:latin typeface="Calibri" pitchFamily="34" charset="0"/>
                <a:ea typeface="Calibri" pitchFamily="34" charset="-122"/>
                <a:cs typeface="Calibri" pitchFamily="34" charset="-120"/>
              </a:rPr>
              <a:t>Trusted: server computes prices and totals</a:t>
            </a:r>
            <a:endParaRPr lang="en-US" sz="1300" dirty="0"/>
          </a:p>
        </p:txBody>
      </p:sp>
      <p:sp>
        <p:nvSpPr>
          <p:cNvPr id="6" name="effect"/>
          <p:cNvSpPr/>
          <p:nvPr/>
        </p:nvSpPr>
        <p:spPr>
          <a:xfrm>
            <a:off x="457200" y="3749040"/>
            <a:ext cx="4754880" cy="868680"/>
          </a:xfrm>
          <a:prstGeom prst="roundRect">
            <a:avLst>
              <a:gd name="adj" fmla="val 8421"/>
            </a:avLst>
          </a:prstGeom>
          <a:solidFill>
            <a:srgbClr val="F3F6F2"/>
          </a:solidFill>
          <a:ln w="9525">
            <a:solidFill>
              <a:srgbClr val="D5DED8"/>
            </a:solidFill>
            <a:prstDash val="solid"/>
          </a:ln>
        </p:spPr>
      </p:sp>
      <p:sp>
        <p:nvSpPr>
          <p:cNvPr id="7" name="Text 3"/>
          <p:cNvSpPr txBox="1"/>
          <p:nvPr/>
        </p:nvSpPr>
        <p:spPr>
          <a:xfrm>
            <a:off x="621792" y="3794760"/>
            <a:ext cx="4434840" cy="777240"/>
          </a:xfrm>
          <a:prstGeom prst="rect">
            <a:avLst/>
          </a:prstGeom>
          <a:noFill/>
          <a:ln/>
        </p:spPr>
        <p:txBody>
          <a:bodyPr wrap="square" lIns="0" tIns="0" rIns="0" bIns="0" rtlCol="0" anchor="ctr"/>
          <a:lstStyle/>
          <a:p>
            <a:pPr marL="0" indent="0">
              <a:buNone/>
            </a:pPr>
            <a:r>
              <a:rPr lang="en-US" sz="1250" b="1" dirty="0">
                <a:solidFill>
                  <a:srgbClr val="2E7D4F"/>
                </a:solidFill>
                <a:latin typeface="Calibri" pitchFamily="34" charset="0"/>
                <a:ea typeface="Calibri" pitchFamily="34" charset="-122"/>
                <a:cs typeface="Calibri" pitchFamily="34" charset="-120"/>
              </a:rPr>
              <a:t>Stock effect: </a:t>
            </a:r>
            <a:r>
              <a:rPr lang="en-US" sz="1250" dirty="0">
                <a:solidFill>
                  <a:srgbClr val="1B2A22"/>
                </a:solidFill>
                <a:latin typeface="Calibri" pitchFamily="34" charset="0"/>
                <a:ea typeface="Calibri" pitchFamily="34" charset="-122"/>
                <a:cs typeface="Calibri" pitchFamily="34" charset="-120"/>
              </a:rPr>
              <a:t>chicken 15,000 → 14,850 g, rice 25,000 → 24,800 g, milk 20,000 → 19,800 ml after one Biryani + Samosa + 2 Chai order.</a:t>
            </a:r>
            <a:endParaRPr lang="en-US" sz="1250" dirty="0"/>
          </a:p>
        </p:txBody>
      </p:sp>
      <p:pic>
        <p:nvPicPr>
          <p:cNvPr id="8" name="screenshot" descr="Tray and checkout"/>
          <p:cNvPicPr>
            <a:picLocks noChangeAspect="1"/>
          </p:cNvPicPr>
          <p:nvPr/>
        </p:nvPicPr>
        <p:blipFill>
          <a:blip r:embed="rId4"/>
          <a:stretch>
            <a:fillRect/>
          </a:stretch>
        </p:blipFill>
        <p:spPr>
          <a:xfrm>
            <a:off x="5440680" y="1051560"/>
            <a:ext cx="3246120" cy="2029968"/>
          </a:xfrm>
          <a:prstGeom prst="rect">
            <a:avLst/>
          </a:prstGeom>
          <a:effectLst>
            <a:outerShdw blurRad="101600" dist="25400" dir="5400000" algn="bl" rotWithShape="0">
              <a:srgbClr val="000000">
                <a:alpha val="18000"/>
              </a:srgbClr>
            </a:outerShdw>
          </a:effectLst>
        </p:spPr>
      </p:pic>
      <p:sp>
        <p:nvSpPr>
          <p:cNvPr id="9" name="Text 4"/>
          <p:cNvSpPr txBox="1"/>
          <p:nvPr/>
        </p:nvSpPr>
        <p:spPr>
          <a:xfrm>
            <a:off x="5440680" y="3108960"/>
            <a:ext cx="3246120" cy="274320"/>
          </a:xfrm>
          <a:prstGeom prst="rect">
            <a:avLst/>
          </a:prstGeom>
          <a:noFill/>
          <a:ln/>
        </p:spPr>
        <p:txBody>
          <a:bodyPr wrap="square" lIns="0" tIns="0" rIns="0" bIns="0" rtlCol="0" anchor="t"/>
          <a:lstStyle/>
          <a:p>
            <a:pPr marL="0" indent="0" algn="ctr">
              <a:buNone/>
            </a:pPr>
            <a:r>
              <a:rPr lang="en-US" sz="1100" i="1" dirty="0">
                <a:solidFill>
                  <a:srgbClr val="5A6B62"/>
                </a:solidFill>
                <a:latin typeface="Calibri" pitchFamily="34" charset="0"/>
                <a:ea typeface="Calibri" pitchFamily="34" charset="-122"/>
                <a:cs typeface="Calibri" pitchFamily="34" charset="-120"/>
              </a:rPr>
              <a:t>Tray: totals, 5% GST, payment method</a:t>
            </a:r>
            <a:endParaRPr lang="en-US" sz="1100" dirty="0"/>
          </a:p>
        </p:txBody>
      </p:sp>
      <p:pic>
        <p:nvPicPr>
          <p:cNvPr id="10" name="screenshot" descr="My orders token"/>
          <p:cNvPicPr>
            <a:picLocks noChangeAspect="1"/>
          </p:cNvPicPr>
          <p:nvPr/>
        </p:nvPicPr>
        <p:blipFill>
          <a:blip r:embed="rId5"/>
          <a:stretch>
            <a:fillRect/>
          </a:stretch>
        </p:blipFill>
        <p:spPr>
          <a:xfrm>
            <a:off x="5440680" y="3429000"/>
            <a:ext cx="3246120" cy="1216152"/>
          </a:xfrm>
          <a:prstGeom prst="rect">
            <a:avLst/>
          </a:prstGeom>
          <a:effectLst>
            <a:outerShdw blurRad="101600" dist="25400" dir="5400000" algn="bl" rotWithShape="0">
              <a:srgbClr val="000000">
                <a:alpha val="18000"/>
              </a:srgbClr>
            </a:outerShdw>
          </a:effectLst>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rgbClr val="14382A"/>
                </a:solidFill>
                <a:latin typeface="Cambria" pitchFamily="34" charset="0"/>
                <a:ea typeface="Cambria" pitchFamily="34" charset="-122"/>
                <a:cs typeface="Cambria" pitchFamily="34" charset="-120"/>
              </a:rPr>
              <a:t>Staff and admin screens, SQL reports</a:t>
            </a:r>
            <a:endParaRPr lang="en-US" sz="3200" dirty="0"/>
          </a:p>
        </p:txBody>
      </p:sp>
      <p:pic>
        <p:nvPicPr>
          <p:cNvPr id="4" name="screenshot" descr="Orders screen"/>
          <p:cNvPicPr>
            <a:picLocks noChangeAspect="1"/>
          </p:cNvPicPr>
          <p:nvPr/>
        </p:nvPicPr>
        <p:blipFill>
          <a:blip r:embed="rId3"/>
          <a:stretch>
            <a:fillRect/>
          </a:stretch>
        </p:blipFill>
        <p:spPr>
          <a:xfrm>
            <a:off x="457200" y="1051560"/>
            <a:ext cx="2651760" cy="1655064"/>
          </a:xfrm>
          <a:prstGeom prst="rect">
            <a:avLst/>
          </a:prstGeom>
          <a:effectLst>
            <a:outerShdw blurRad="101600" dist="25400" dir="5400000" algn="bl" rotWithShape="0">
              <a:srgbClr val="000000">
                <a:alpha val="18000"/>
              </a:srgbClr>
            </a:outerShdw>
          </a:effectLst>
        </p:spPr>
      </p:pic>
      <p:sp>
        <p:nvSpPr>
          <p:cNvPr id="5" name="Text 1"/>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100" i="1" dirty="0">
                <a:solidFill>
                  <a:srgbClr val="5A6B62"/>
                </a:solidFill>
                <a:latin typeface="Calibri" pitchFamily="34" charset="0"/>
                <a:ea typeface="Calibri" pitchFamily="34" charset="-122"/>
                <a:cs typeface="Calibri" pitchFamily="34" charset="-120"/>
              </a:rPr>
              <a:t>Orders: next-status button</a:t>
            </a:r>
            <a:endParaRPr lang="en-US" sz="1100" dirty="0"/>
          </a:p>
        </p:txBody>
      </p:sp>
      <p:pic>
        <p:nvPicPr>
          <p:cNvPr id="6" name="screenshot" descr="Dashboard"/>
          <p:cNvPicPr>
            <a:picLocks noChangeAspect="1"/>
          </p:cNvPicPr>
          <p:nvPr/>
        </p:nvPicPr>
        <p:blipFill>
          <a:blip r:embed="rId4"/>
          <a:stretch>
            <a:fillRect/>
          </a:stretch>
        </p:blipFill>
        <p:spPr>
          <a:xfrm>
            <a:off x="3246120" y="1051560"/>
            <a:ext cx="2651760" cy="1655064"/>
          </a:xfrm>
          <a:prstGeom prst="rect">
            <a:avLst/>
          </a:prstGeom>
          <a:effectLst>
            <a:outerShdw blurRad="101600" dist="25400" dir="5400000" algn="bl" rotWithShape="0">
              <a:srgbClr val="000000">
                <a:alpha val="18000"/>
              </a:srgbClr>
            </a:outerShdw>
          </a:effectLst>
        </p:spPr>
      </p:pic>
      <p:sp>
        <p:nvSpPr>
          <p:cNvPr id="7" name="Text 2"/>
          <p:cNvSpPr txBox="1"/>
          <p:nvPr/>
        </p:nvSpPr>
        <p:spPr>
          <a:xfrm>
            <a:off x="3246120" y="2743200"/>
            <a:ext cx="2651760" cy="274320"/>
          </a:xfrm>
          <a:prstGeom prst="rect">
            <a:avLst/>
          </a:prstGeom>
          <a:noFill/>
          <a:ln/>
        </p:spPr>
        <p:txBody>
          <a:bodyPr wrap="square" lIns="0" tIns="0" rIns="0" bIns="0" rtlCol="0" anchor="t"/>
          <a:lstStyle/>
          <a:p>
            <a:pPr marL="0" indent="0" algn="ctr">
              <a:buNone/>
            </a:pPr>
            <a:r>
              <a:rPr lang="en-US" sz="1100" i="1" dirty="0">
                <a:solidFill>
                  <a:srgbClr val="5A6B62"/>
                </a:solidFill>
                <a:latin typeface="Calibri" pitchFamily="34" charset="0"/>
                <a:ea typeface="Calibri" pitchFamily="34" charset="-122"/>
                <a:cs typeface="Calibri" pitchFamily="34" charset="-120"/>
              </a:rPr>
              <a:t>Dashboard: live revenue</a:t>
            </a:r>
            <a:endParaRPr lang="en-US" sz="1100" dirty="0"/>
          </a:p>
        </p:txBody>
      </p:sp>
      <p:pic>
        <p:nvPicPr>
          <p:cNvPr id="8" name="screenshot" descr="Delete refused"/>
          <p:cNvPicPr>
            <a:picLocks noChangeAspect="1"/>
          </p:cNvPicPr>
          <p:nvPr/>
        </p:nvPicPr>
        <p:blipFill>
          <a:blip r:embed="rId5"/>
          <a:stretch>
            <a:fillRect/>
          </a:stretch>
        </p:blipFill>
        <p:spPr>
          <a:xfrm>
            <a:off x="6035040" y="1051560"/>
            <a:ext cx="2651760" cy="1655064"/>
          </a:xfrm>
          <a:prstGeom prst="rect">
            <a:avLst/>
          </a:prstGeom>
          <a:effectLst>
            <a:outerShdw blurRad="101600" dist="25400" dir="5400000" algn="bl" rotWithShape="0">
              <a:srgbClr val="000000">
                <a:alpha val="18000"/>
              </a:srgbClr>
            </a:outerShdw>
          </a:effectLst>
        </p:spPr>
      </p:pic>
      <p:sp>
        <p:nvSpPr>
          <p:cNvPr id="9" name="Text 3"/>
          <p:cNvSpPr txBox="1"/>
          <p:nvPr/>
        </p:nvSpPr>
        <p:spPr>
          <a:xfrm>
            <a:off x="6035040" y="2743200"/>
            <a:ext cx="2651760" cy="274320"/>
          </a:xfrm>
          <a:prstGeom prst="rect">
            <a:avLst/>
          </a:prstGeom>
          <a:noFill/>
          <a:ln/>
        </p:spPr>
        <p:txBody>
          <a:bodyPr wrap="square" lIns="0" tIns="0" rIns="0" bIns="0" rtlCol="0" anchor="t"/>
          <a:lstStyle/>
          <a:p>
            <a:pPr marL="0" indent="0" algn="ctr">
              <a:buNone/>
            </a:pPr>
            <a:r>
              <a:rPr lang="en-US" sz="1100" i="1" dirty="0">
                <a:solidFill>
                  <a:srgbClr val="5A6B62"/>
                </a:solidFill>
                <a:latin typeface="Calibri" pitchFamily="34" charset="0"/>
                <a:ea typeface="Calibri" pitchFamily="34" charset="-122"/>
                <a:cs typeface="Calibri" pitchFamily="34" charset="-120"/>
              </a:rPr>
              <a:t>Delete refused by foreign key</a:t>
            </a:r>
            <a:endParaRPr lang="en-US" sz="1100" dirty="0"/>
          </a:p>
        </p:txBody>
      </p:sp>
      <p:graphicFrame>
        <p:nvGraphicFramePr>
          <p:cNvPr id="10" name="Chart 0"/>
          <p:cNvGraphicFramePr/>
          <p:nvPr/>
        </p:nvGraphicFramePr>
        <p:xfrm>
          <a:off x="457200" y="3063240"/>
          <a:ext cx="4754880" cy="1645920"/>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 4"/>
          <p:cNvSpPr txBox="1"/>
          <p:nvPr/>
        </p:nvSpPr>
        <p:spPr>
          <a:xfrm>
            <a:off x="5577840" y="3063240"/>
            <a:ext cx="3108960" cy="256032"/>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Best sellers (units)</a:t>
            </a:r>
            <a:endParaRPr lang="en-US" sz="1200" dirty="0"/>
          </a:p>
        </p:txBody>
      </p:sp>
      <p:sp>
        <p:nvSpPr>
          <p:cNvPr id="12" name="row"/>
          <p:cNvSpPr/>
          <p:nvPr/>
        </p:nvSpPr>
        <p:spPr>
          <a:xfrm>
            <a:off x="5577840" y="3364992"/>
            <a:ext cx="3108960" cy="292608"/>
          </a:xfrm>
          <a:prstGeom prst="roundRect">
            <a:avLst>
              <a:gd name="adj" fmla="val 25000"/>
            </a:avLst>
          </a:prstGeom>
          <a:solidFill>
            <a:srgbClr val="F3F6F2"/>
          </a:solidFill>
          <a:ln w="9525">
            <a:solidFill>
              <a:srgbClr val="D5DED8"/>
            </a:solidFill>
            <a:prstDash val="solid"/>
          </a:ln>
        </p:spPr>
      </p:sp>
      <p:sp>
        <p:nvSpPr>
          <p:cNvPr id="13" name="Text 6"/>
          <p:cNvSpPr txBox="1"/>
          <p:nvPr/>
        </p:nvSpPr>
        <p:spPr>
          <a:xfrm>
            <a:off x="5715000" y="3364992"/>
            <a:ext cx="2103120" cy="292608"/>
          </a:xfrm>
          <a:prstGeom prst="rect">
            <a:avLst/>
          </a:prstGeom>
          <a:noFill/>
          <a:ln/>
        </p:spPr>
        <p:txBody>
          <a:bodyPr wrap="square" lIns="0" tIns="0" rIns="0" bIns="0" rtlCol="0" anchor="ctr"/>
          <a:lstStyle/>
          <a:p>
            <a:pPr marL="0" indent="0">
              <a:buNone/>
            </a:pPr>
            <a:r>
              <a:rPr lang="en-US" sz="1200" dirty="0">
                <a:solidFill>
                  <a:srgbClr val="1B2A22"/>
                </a:solidFill>
                <a:latin typeface="Calibri" pitchFamily="34" charset="0"/>
                <a:ea typeface="Calibri" pitchFamily="34" charset="-122"/>
                <a:cs typeface="Calibri" pitchFamily="34" charset="-120"/>
              </a:rPr>
              <a:t>Lime Soda</a:t>
            </a:r>
            <a:endParaRPr lang="en-US" sz="1200" dirty="0"/>
          </a:p>
        </p:txBody>
      </p:sp>
      <p:sp>
        <p:nvSpPr>
          <p:cNvPr id="14" name="Text 7"/>
          <p:cNvSpPr txBox="1"/>
          <p:nvPr/>
        </p:nvSpPr>
        <p:spPr>
          <a:xfrm>
            <a:off x="7863840" y="3364992"/>
            <a:ext cx="685800" cy="292608"/>
          </a:xfrm>
          <a:prstGeom prst="rect">
            <a:avLst/>
          </a:prstGeom>
          <a:noFill/>
          <a:ln/>
        </p:spPr>
        <p:txBody>
          <a:bodyPr wrap="square" lIns="0" tIns="0" rIns="0" bIns="0" rtlCol="0" anchor="ctr"/>
          <a:lstStyle/>
          <a:p>
            <a:pPr marL="0" indent="0" algn="r">
              <a:buNone/>
            </a:pPr>
            <a:r>
              <a:rPr lang="en-US" sz="1200" b="1" dirty="0">
                <a:solidFill>
                  <a:srgbClr val="2E7D4F"/>
                </a:solidFill>
                <a:latin typeface="Calibri" pitchFamily="34" charset="0"/>
                <a:ea typeface="Calibri" pitchFamily="34" charset="-122"/>
                <a:cs typeface="Calibri" pitchFamily="34" charset="-120"/>
              </a:rPr>
              <a:t>3</a:t>
            </a:r>
            <a:endParaRPr lang="en-US" sz="1200" dirty="0"/>
          </a:p>
        </p:txBody>
      </p:sp>
      <p:sp>
        <p:nvSpPr>
          <p:cNvPr id="15" name="row"/>
          <p:cNvSpPr/>
          <p:nvPr/>
        </p:nvSpPr>
        <p:spPr>
          <a:xfrm>
            <a:off x="5577840" y="3703320"/>
            <a:ext cx="3108960" cy="292608"/>
          </a:xfrm>
          <a:prstGeom prst="roundRect">
            <a:avLst>
              <a:gd name="adj" fmla="val 25000"/>
            </a:avLst>
          </a:prstGeom>
          <a:solidFill>
            <a:srgbClr val="FFFFFF"/>
          </a:solidFill>
          <a:ln w="9525">
            <a:solidFill>
              <a:srgbClr val="D5DED8"/>
            </a:solidFill>
            <a:prstDash val="solid"/>
          </a:ln>
        </p:spPr>
      </p:sp>
      <p:sp>
        <p:nvSpPr>
          <p:cNvPr id="16" name="Text 9"/>
          <p:cNvSpPr txBox="1"/>
          <p:nvPr/>
        </p:nvSpPr>
        <p:spPr>
          <a:xfrm>
            <a:off x="5715000" y="3703320"/>
            <a:ext cx="2103120" cy="292608"/>
          </a:xfrm>
          <a:prstGeom prst="rect">
            <a:avLst/>
          </a:prstGeom>
          <a:noFill/>
          <a:ln/>
        </p:spPr>
        <p:txBody>
          <a:bodyPr wrap="square" lIns="0" tIns="0" rIns="0" bIns="0" rtlCol="0" anchor="ctr"/>
          <a:lstStyle/>
          <a:p>
            <a:pPr marL="0" indent="0">
              <a:buNone/>
            </a:pPr>
            <a:r>
              <a:rPr lang="en-US" sz="1200" dirty="0">
                <a:solidFill>
                  <a:srgbClr val="1B2A22"/>
                </a:solidFill>
                <a:latin typeface="Calibri" pitchFamily="34" charset="0"/>
                <a:ea typeface="Calibri" pitchFamily="34" charset="-122"/>
                <a:cs typeface="Calibri" pitchFamily="34" charset="-120"/>
              </a:rPr>
              <a:t>Masala Chai</a:t>
            </a:r>
            <a:endParaRPr lang="en-US" sz="1200" dirty="0"/>
          </a:p>
        </p:txBody>
      </p:sp>
      <p:sp>
        <p:nvSpPr>
          <p:cNvPr id="17" name="Text 10"/>
          <p:cNvSpPr txBox="1"/>
          <p:nvPr/>
        </p:nvSpPr>
        <p:spPr>
          <a:xfrm>
            <a:off x="7863840" y="3703320"/>
            <a:ext cx="685800" cy="292608"/>
          </a:xfrm>
          <a:prstGeom prst="rect">
            <a:avLst/>
          </a:prstGeom>
          <a:noFill/>
          <a:ln/>
        </p:spPr>
        <p:txBody>
          <a:bodyPr wrap="square" lIns="0" tIns="0" rIns="0" bIns="0" rtlCol="0" anchor="ctr"/>
          <a:lstStyle/>
          <a:p>
            <a:pPr marL="0" indent="0" algn="r">
              <a:buNone/>
            </a:pPr>
            <a:r>
              <a:rPr lang="en-US" sz="1200" b="1" dirty="0">
                <a:solidFill>
                  <a:srgbClr val="2E7D4F"/>
                </a:solidFill>
                <a:latin typeface="Calibri" pitchFamily="34" charset="0"/>
                <a:ea typeface="Calibri" pitchFamily="34" charset="-122"/>
                <a:cs typeface="Calibri" pitchFamily="34" charset="-120"/>
              </a:rPr>
              <a:t>3</a:t>
            </a:r>
            <a:endParaRPr lang="en-US" sz="1200" dirty="0"/>
          </a:p>
        </p:txBody>
      </p:sp>
      <p:sp>
        <p:nvSpPr>
          <p:cNvPr id="18" name="row"/>
          <p:cNvSpPr/>
          <p:nvPr/>
        </p:nvSpPr>
        <p:spPr>
          <a:xfrm>
            <a:off x="5577840" y="4041648"/>
            <a:ext cx="3108960" cy="292608"/>
          </a:xfrm>
          <a:prstGeom prst="roundRect">
            <a:avLst>
              <a:gd name="adj" fmla="val 25000"/>
            </a:avLst>
          </a:prstGeom>
          <a:solidFill>
            <a:srgbClr val="F3F6F2"/>
          </a:solidFill>
          <a:ln w="9525">
            <a:solidFill>
              <a:srgbClr val="D5DED8"/>
            </a:solidFill>
            <a:prstDash val="solid"/>
          </a:ln>
        </p:spPr>
      </p:sp>
      <p:sp>
        <p:nvSpPr>
          <p:cNvPr id="19" name="Text 12"/>
          <p:cNvSpPr txBox="1"/>
          <p:nvPr/>
        </p:nvSpPr>
        <p:spPr>
          <a:xfrm>
            <a:off x="5715000" y="4041648"/>
            <a:ext cx="2103120" cy="292608"/>
          </a:xfrm>
          <a:prstGeom prst="rect">
            <a:avLst/>
          </a:prstGeom>
          <a:noFill/>
          <a:ln/>
        </p:spPr>
        <p:txBody>
          <a:bodyPr wrap="square" lIns="0" tIns="0" rIns="0" bIns="0" rtlCol="0" anchor="ctr"/>
          <a:lstStyle/>
          <a:p>
            <a:pPr marL="0" indent="0">
              <a:buNone/>
            </a:pPr>
            <a:r>
              <a:rPr lang="en-US" sz="1200" dirty="0">
                <a:solidFill>
                  <a:srgbClr val="1B2A22"/>
                </a:solidFill>
                <a:latin typeface="Calibri" pitchFamily="34" charset="0"/>
                <a:ea typeface="Calibri" pitchFamily="34" charset="-122"/>
                <a:cs typeface="Calibri" pitchFamily="34" charset="-120"/>
              </a:rPr>
              <a:t>Chicken Burger</a:t>
            </a:r>
            <a:endParaRPr lang="en-US" sz="1200" dirty="0"/>
          </a:p>
        </p:txBody>
      </p:sp>
      <p:sp>
        <p:nvSpPr>
          <p:cNvPr id="20" name="Text 13"/>
          <p:cNvSpPr txBox="1"/>
          <p:nvPr/>
        </p:nvSpPr>
        <p:spPr>
          <a:xfrm>
            <a:off x="7863840" y="4041648"/>
            <a:ext cx="685800" cy="292608"/>
          </a:xfrm>
          <a:prstGeom prst="rect">
            <a:avLst/>
          </a:prstGeom>
          <a:noFill/>
          <a:ln/>
        </p:spPr>
        <p:txBody>
          <a:bodyPr wrap="square" lIns="0" tIns="0" rIns="0" bIns="0" rtlCol="0" anchor="ctr"/>
          <a:lstStyle/>
          <a:p>
            <a:pPr marL="0" indent="0" algn="r">
              <a:buNone/>
            </a:pPr>
            <a:r>
              <a:rPr lang="en-US" sz="1200" b="1" dirty="0">
                <a:solidFill>
                  <a:srgbClr val="2E7D4F"/>
                </a:solidFill>
                <a:latin typeface="Calibri" pitchFamily="34" charset="0"/>
                <a:ea typeface="Calibri" pitchFamily="34" charset="-122"/>
                <a:cs typeface="Calibri" pitchFamily="34" charset="-120"/>
              </a:rPr>
              <a:t>2</a:t>
            </a:r>
            <a:endParaRPr lang="en-US" sz="1200" dirty="0"/>
          </a:p>
        </p:txBody>
      </p:sp>
      <p:sp>
        <p:nvSpPr>
          <p:cNvPr id="21" name="row"/>
          <p:cNvSpPr/>
          <p:nvPr/>
        </p:nvSpPr>
        <p:spPr>
          <a:xfrm>
            <a:off x="5577840" y="4379976"/>
            <a:ext cx="3108960" cy="292608"/>
          </a:xfrm>
          <a:prstGeom prst="roundRect">
            <a:avLst>
              <a:gd name="adj" fmla="val 25000"/>
            </a:avLst>
          </a:prstGeom>
          <a:solidFill>
            <a:srgbClr val="FFFFFF"/>
          </a:solidFill>
          <a:ln w="9525">
            <a:solidFill>
              <a:srgbClr val="D5DED8"/>
            </a:solidFill>
            <a:prstDash val="solid"/>
          </a:ln>
        </p:spPr>
      </p:sp>
      <p:sp>
        <p:nvSpPr>
          <p:cNvPr id="22" name="Text 15"/>
          <p:cNvSpPr txBox="1"/>
          <p:nvPr/>
        </p:nvSpPr>
        <p:spPr>
          <a:xfrm>
            <a:off x="5715000" y="4379976"/>
            <a:ext cx="2103120" cy="292608"/>
          </a:xfrm>
          <a:prstGeom prst="rect">
            <a:avLst/>
          </a:prstGeom>
          <a:noFill/>
          <a:ln/>
        </p:spPr>
        <p:txBody>
          <a:bodyPr wrap="square" lIns="0" tIns="0" rIns="0" bIns="0" rtlCol="0" anchor="ctr"/>
          <a:lstStyle/>
          <a:p>
            <a:pPr marL="0" indent="0">
              <a:buNone/>
            </a:pPr>
            <a:r>
              <a:rPr lang="en-US" sz="1200" dirty="0">
                <a:solidFill>
                  <a:srgbClr val="1B2A22"/>
                </a:solidFill>
                <a:latin typeface="Calibri" pitchFamily="34" charset="0"/>
                <a:ea typeface="Calibri" pitchFamily="34" charset="-122"/>
                <a:cs typeface="Calibri" pitchFamily="34" charset="-120"/>
              </a:rPr>
              <a:t>Hakka Noodles</a:t>
            </a:r>
            <a:endParaRPr lang="en-US" sz="1200" dirty="0"/>
          </a:p>
        </p:txBody>
      </p:sp>
      <p:sp>
        <p:nvSpPr>
          <p:cNvPr id="23" name="Text 16"/>
          <p:cNvSpPr txBox="1"/>
          <p:nvPr/>
        </p:nvSpPr>
        <p:spPr>
          <a:xfrm>
            <a:off x="7863840" y="4379976"/>
            <a:ext cx="685800" cy="292608"/>
          </a:xfrm>
          <a:prstGeom prst="rect">
            <a:avLst/>
          </a:prstGeom>
          <a:noFill/>
          <a:ln/>
        </p:spPr>
        <p:txBody>
          <a:bodyPr wrap="square" lIns="0" tIns="0" rIns="0" bIns="0" rtlCol="0" anchor="ctr"/>
          <a:lstStyle/>
          <a:p>
            <a:pPr marL="0" indent="0" algn="r">
              <a:buNone/>
            </a:pPr>
            <a:r>
              <a:rPr lang="en-US" sz="1200" b="1" dirty="0">
                <a:solidFill>
                  <a:srgbClr val="2E7D4F"/>
                </a:solidFill>
                <a:latin typeface="Calibri" pitchFamily="34" charset="0"/>
                <a:ea typeface="Calibri" pitchFamily="34" charset="-122"/>
                <a:cs typeface="Calibri" pitchFamily="34" charset="-120"/>
              </a:rPr>
              <a:t>2</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Testing and conclusion</a:t>
            </a:r>
            <a:endParaRPr lang="en-US" sz="3200" dirty="0"/>
          </a:p>
        </p:txBody>
      </p:sp>
      <p:sp>
        <p:nvSpPr>
          <p:cNvPr id="4" name="stat"/>
          <p:cNvSpPr/>
          <p:nvPr/>
        </p:nvSpPr>
        <p:spPr>
          <a:xfrm>
            <a:off x="457200" y="1097280"/>
            <a:ext cx="2606040" cy="914400"/>
          </a:xfrm>
          <a:prstGeom prst="roundRect">
            <a:avLst>
              <a:gd name="adj" fmla="val 8000"/>
            </a:avLst>
          </a:prstGeom>
          <a:solidFill>
            <a:srgbClr val="1E4D3B"/>
          </a:solidFill>
          <a:ln w="9525">
            <a:solidFill>
              <a:srgbClr val="2E6B53"/>
            </a:solidFill>
            <a:prstDash val="solid"/>
          </a:ln>
        </p:spPr>
      </p:sp>
      <p:sp>
        <p:nvSpPr>
          <p:cNvPr id="5" name="Text 2"/>
          <p:cNvSpPr txBox="1"/>
          <p:nvPr/>
        </p:nvSpPr>
        <p:spPr>
          <a:xfrm>
            <a:off x="457200" y="1143000"/>
            <a:ext cx="2606040" cy="54864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14 / 14</a:t>
            </a:r>
            <a:endParaRPr lang="en-US" sz="2800" dirty="0"/>
          </a:p>
        </p:txBody>
      </p:sp>
      <p:sp>
        <p:nvSpPr>
          <p:cNvPr id="6" name="Text 3"/>
          <p:cNvSpPr txBox="1"/>
          <p:nvPr/>
        </p:nvSpPr>
        <p:spPr>
          <a:xfrm>
            <a:off x="457200" y="1691640"/>
            <a:ext cx="2606040" cy="274320"/>
          </a:xfrm>
          <a:prstGeom prst="rect">
            <a:avLst/>
          </a:prstGeom>
          <a:noFill/>
          <a:ln/>
        </p:spPr>
        <p:txBody>
          <a:bodyPr wrap="square" lIns="0" tIns="0" rIns="0" bIns="0" rtlCol="0" anchor="t"/>
          <a:lstStyle/>
          <a:p>
            <a:pPr marL="0" indent="0" algn="ctr">
              <a:buNone/>
            </a:pPr>
            <a:r>
              <a:rPr lang="en-US" sz="1200" dirty="0">
                <a:solidFill>
                  <a:srgbClr val="CFE3D6"/>
                </a:solidFill>
                <a:latin typeface="Calibri" pitchFamily="34" charset="0"/>
                <a:ea typeface="Calibri" pitchFamily="34" charset="-122"/>
                <a:cs typeface="Calibri" pitchFamily="34" charset="-120"/>
              </a:rPr>
              <a:t>integrity tests passed</a:t>
            </a:r>
            <a:endParaRPr lang="en-US" sz="1200" dirty="0"/>
          </a:p>
        </p:txBody>
      </p:sp>
      <p:sp>
        <p:nvSpPr>
          <p:cNvPr id="7" name="stat"/>
          <p:cNvSpPr/>
          <p:nvPr/>
        </p:nvSpPr>
        <p:spPr>
          <a:xfrm>
            <a:off x="3246120" y="1097280"/>
            <a:ext cx="2606040" cy="914400"/>
          </a:xfrm>
          <a:prstGeom prst="roundRect">
            <a:avLst>
              <a:gd name="adj" fmla="val 8000"/>
            </a:avLst>
          </a:prstGeom>
          <a:solidFill>
            <a:srgbClr val="1E4D3B"/>
          </a:solidFill>
          <a:ln w="9525">
            <a:solidFill>
              <a:srgbClr val="2E6B53"/>
            </a:solidFill>
            <a:prstDash val="solid"/>
          </a:ln>
        </p:spPr>
      </p:sp>
      <p:sp>
        <p:nvSpPr>
          <p:cNvPr id="8" name="Text 5"/>
          <p:cNvSpPr txBox="1"/>
          <p:nvPr/>
        </p:nvSpPr>
        <p:spPr>
          <a:xfrm>
            <a:off x="3246120" y="1143000"/>
            <a:ext cx="2606040" cy="54864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10 / 10</a:t>
            </a:r>
            <a:endParaRPr lang="en-US" sz="2800" dirty="0"/>
          </a:p>
        </p:txBody>
      </p:sp>
      <p:sp>
        <p:nvSpPr>
          <p:cNvPr id="9" name="Text 6"/>
          <p:cNvSpPr txBox="1"/>
          <p:nvPr/>
        </p:nvSpPr>
        <p:spPr>
          <a:xfrm>
            <a:off x="3246120" y="1691640"/>
            <a:ext cx="2606040" cy="274320"/>
          </a:xfrm>
          <a:prstGeom prst="rect">
            <a:avLst/>
          </a:prstGeom>
          <a:noFill/>
          <a:ln/>
        </p:spPr>
        <p:txBody>
          <a:bodyPr wrap="square" lIns="0" tIns="0" rIns="0" bIns="0" rtlCol="0" anchor="t"/>
          <a:lstStyle/>
          <a:p>
            <a:pPr marL="0" indent="0" algn="ctr">
              <a:buNone/>
            </a:pPr>
            <a:r>
              <a:rPr lang="en-US" sz="1200" dirty="0">
                <a:solidFill>
                  <a:srgbClr val="CFE3D6"/>
                </a:solidFill>
                <a:latin typeface="Calibri" pitchFamily="34" charset="0"/>
                <a:ea typeface="Calibri" pitchFamily="34" charset="-122"/>
                <a:cs typeface="Calibri" pitchFamily="34" charset="-120"/>
              </a:rPr>
              <a:t>UI tests passed</a:t>
            </a:r>
            <a:endParaRPr lang="en-US" sz="1200" dirty="0"/>
          </a:p>
        </p:txBody>
      </p:sp>
      <p:sp>
        <p:nvSpPr>
          <p:cNvPr id="10" name="stat"/>
          <p:cNvSpPr/>
          <p:nvPr/>
        </p:nvSpPr>
        <p:spPr>
          <a:xfrm>
            <a:off x="6035040" y="1097280"/>
            <a:ext cx="2606040" cy="914400"/>
          </a:xfrm>
          <a:prstGeom prst="roundRect">
            <a:avLst>
              <a:gd name="adj" fmla="val 8000"/>
            </a:avLst>
          </a:prstGeom>
          <a:solidFill>
            <a:srgbClr val="1E4D3B"/>
          </a:solidFill>
          <a:ln w="9525">
            <a:solidFill>
              <a:srgbClr val="2E6B53"/>
            </a:solidFill>
            <a:prstDash val="solid"/>
          </a:ln>
        </p:spPr>
      </p:sp>
      <p:sp>
        <p:nvSpPr>
          <p:cNvPr id="11" name="Text 8"/>
          <p:cNvSpPr txBox="1"/>
          <p:nvPr/>
        </p:nvSpPr>
        <p:spPr>
          <a:xfrm>
            <a:off x="6035040" y="1143000"/>
            <a:ext cx="2606040" cy="548640"/>
          </a:xfrm>
          <a:prstGeom prst="rect">
            <a:avLst/>
          </a:prstGeom>
          <a:noFill/>
          <a:ln/>
        </p:spPr>
        <p:txBody>
          <a:bodyPr wrap="square" lIns="0" tIns="0" rIns="0" bIns="0" rtlCol="0" anchor="ctr"/>
          <a:lstStyle/>
          <a:p>
            <a:pPr marL="0" indent="0" algn="ctr">
              <a:buNone/>
            </a:pPr>
            <a:r>
              <a:rPr lang="en-US" sz="2800" b="1" dirty="0">
                <a:solidFill>
                  <a:srgbClr val="E4A11B"/>
                </a:solidFill>
                <a:latin typeface="Cambria" pitchFamily="34" charset="0"/>
                <a:ea typeface="Cambria" pitchFamily="34" charset="-122"/>
                <a:cs typeface="Cambria" pitchFamily="34" charset="-120"/>
              </a:rPr>
              <a:t>24</a:t>
            </a:r>
            <a:endParaRPr lang="en-US" sz="2800" dirty="0"/>
          </a:p>
        </p:txBody>
      </p:sp>
      <p:sp>
        <p:nvSpPr>
          <p:cNvPr id="12" name="Text 9"/>
          <p:cNvSpPr txBox="1"/>
          <p:nvPr/>
        </p:nvSpPr>
        <p:spPr>
          <a:xfrm>
            <a:off x="6035040" y="1691640"/>
            <a:ext cx="2606040" cy="274320"/>
          </a:xfrm>
          <a:prstGeom prst="rect">
            <a:avLst/>
          </a:prstGeom>
          <a:noFill/>
          <a:ln/>
        </p:spPr>
        <p:txBody>
          <a:bodyPr wrap="square" lIns="0" tIns="0" rIns="0" bIns="0" rtlCol="0" anchor="t"/>
          <a:lstStyle/>
          <a:p>
            <a:pPr marL="0" indent="0" algn="ctr">
              <a:buNone/>
            </a:pPr>
            <a:r>
              <a:rPr lang="en-US" sz="1200" dirty="0">
                <a:solidFill>
                  <a:srgbClr val="CFE3D6"/>
                </a:solidFill>
                <a:latin typeface="Calibri" pitchFamily="34" charset="0"/>
                <a:ea typeface="Calibri" pitchFamily="34" charset="-122"/>
                <a:cs typeface="Calibri" pitchFamily="34" charset="-120"/>
              </a:rPr>
              <a:t>tests in total</a:t>
            </a:r>
            <a:endParaRPr lang="en-US" sz="1200" dirty="0"/>
          </a:p>
        </p:txBody>
      </p:sp>
      <p:sp>
        <p:nvSpPr>
          <p:cNvPr id="13" name="Text 10"/>
          <p:cNvSpPr txBox="1"/>
          <p:nvPr/>
        </p:nvSpPr>
        <p:spPr>
          <a:xfrm>
            <a:off x="457200" y="2240280"/>
            <a:ext cx="4023360" cy="292608"/>
          </a:xfrm>
          <a:prstGeom prst="rect">
            <a:avLst/>
          </a:prstGeom>
          <a:noFill/>
          <a:ln/>
        </p:spPr>
        <p:txBody>
          <a:bodyPr wrap="square" lIns="0" tIns="0" rIns="0" bIns="0" rtlCol="0" anchor="t"/>
          <a:lstStyle/>
          <a:p>
            <a:pPr marL="0" indent="0">
              <a:buNone/>
            </a:pPr>
            <a:r>
              <a:rPr lang="en-US" sz="1700" b="1" dirty="0">
                <a:solidFill>
                  <a:srgbClr val="E4A11B"/>
                </a:solidFill>
                <a:latin typeface="Cambria" pitchFamily="34" charset="0"/>
                <a:ea typeface="Cambria" pitchFamily="34" charset="-122"/>
                <a:cs typeface="Cambria" pitchFamily="34" charset="-120"/>
              </a:rPr>
              <a:t>What we delivered</a:t>
            </a:r>
            <a:endParaRPr lang="en-US" sz="1700" dirty="0"/>
          </a:p>
        </p:txBody>
      </p:sp>
      <p:sp>
        <p:nvSpPr>
          <p:cNvPr id="14" name="Text 11"/>
          <p:cNvSpPr txBox="1"/>
          <p:nvPr/>
        </p:nvSpPr>
        <p:spPr>
          <a:xfrm>
            <a:off x="396643" y="2628900"/>
            <a:ext cx="402336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ER model → 3NF schema → MySQL 8</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Web app for students, staff and admins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ACID orders, recipe-based stock, GST bills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Constraints that reject bad data on their own</a:t>
            </a:r>
            <a:endParaRPr lang="en-US" sz="1300" dirty="0"/>
          </a:p>
        </p:txBody>
      </p:sp>
      <p:sp>
        <p:nvSpPr>
          <p:cNvPr id="15" name="Text 12"/>
          <p:cNvSpPr txBox="1"/>
          <p:nvPr/>
        </p:nvSpPr>
        <p:spPr>
          <a:xfrm>
            <a:off x="4846320" y="2240280"/>
            <a:ext cx="3840480" cy="292608"/>
          </a:xfrm>
          <a:prstGeom prst="rect">
            <a:avLst/>
          </a:prstGeom>
          <a:noFill/>
          <a:ln/>
        </p:spPr>
        <p:txBody>
          <a:bodyPr wrap="square" lIns="0" tIns="0" rIns="0" bIns="0" rtlCol="0" anchor="t"/>
          <a:lstStyle/>
          <a:p>
            <a:pPr marL="0" indent="0">
              <a:buNone/>
            </a:pPr>
            <a:r>
              <a:rPr lang="en-US" sz="1700" b="1" dirty="0">
                <a:solidFill>
                  <a:srgbClr val="E4A11B"/>
                </a:solidFill>
                <a:latin typeface="Cambria" pitchFamily="34" charset="0"/>
                <a:ea typeface="Cambria" pitchFamily="34" charset="-122"/>
                <a:cs typeface="Cambria" pitchFamily="34" charset="-120"/>
              </a:rPr>
              <a:t>Future enhancements</a:t>
            </a:r>
            <a:endParaRPr lang="en-US" sz="1700" dirty="0"/>
          </a:p>
        </p:txBody>
      </p:sp>
      <p:sp>
        <p:nvSpPr>
          <p:cNvPr id="16" name="Text 13"/>
          <p:cNvSpPr txBox="1"/>
          <p:nvPr/>
        </p:nvSpPr>
        <p:spPr>
          <a:xfrm>
            <a:off x="4846320" y="2578608"/>
            <a:ext cx="38404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Real UPI / payment gateway</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QR ordering and ready-order notifications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Status-history table to audit changes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Coupons and supplier orders</a:t>
            </a:r>
            <a:endParaRPr lang="en-US" sz="1300" dirty="0"/>
          </a:p>
        </p:txBody>
      </p:sp>
    </p:spTree>
  </p:cSld>
  <p:clrMapOvr>
    <a:masterClrMapping/>
  </p:clrMapOvr>
</p:sld>
</file>

<file path=ppt/theme/theme1.xml><?xml version="1.0" encoding="utf-8"?>
<a:theme xmlns:a="http://schemas.openxmlformats.org/drawingml/2006/main" name="Canteen DBMS">
  <a:themeElements>
    <a:clrScheme name="Canteen DBMS">
      <a:dk1>
        <a:srgbClr val="1B2A22"/>
      </a:dk1>
      <a:lt1>
        <a:srgbClr val="FFFFFF"/>
      </a:lt1>
      <a:dk2>
        <a:srgbClr val="14382A"/>
      </a:dk2>
      <a:lt2>
        <a:srgbClr val="F3F6F2"/>
      </a:lt2>
      <a:accent1>
        <a:srgbClr val="2E7D4F"/>
      </a:accent1>
      <a:accent2>
        <a:srgbClr val="E4A11B"/>
      </a:accent2>
      <a:accent3>
        <a:srgbClr val="1F5FA8"/>
      </a:accent3>
      <a:accent4>
        <a:srgbClr val="B2452F"/>
      </a:accent4>
      <a:accent5>
        <a:srgbClr val="6B3FA0"/>
      </a:accent5>
      <a:accent6>
        <a:srgbClr val="0F7C86"/>
      </a:accent6>
      <a:hlink>
        <a:srgbClr val="1F5FA8"/>
      </a:hlink>
      <a:folHlink>
        <a:srgbClr val="6B3FA0"/>
      </a:folHlink>
    </a:clrScheme>
    <a:fontScheme name="Canteen DB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521</TotalTime>
  <Words>898</Words>
  <Application>Microsoft Office PowerPoint</Application>
  <PresentationFormat>On-screen Show (16:9)</PresentationFormat>
  <Paragraphs>112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Consolas</vt:lpstr>
      <vt:lpstr>Canteen DBMS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Woxsen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Canteen Food Ordering and Billing Management System</dc:title>
  <dc:subject>PptxGenJS Presentation</dc:subject>
  <dc:creator>Abhiuday Singh, Aryaman Jain, Harsh Jha</dc:creator>
  <cp:lastModifiedBy>Aryaman Jain</cp:lastModifiedBy>
  <cp:revision>4</cp:revision>
  <dcterms:created xsi:type="dcterms:W3CDTF">2026-10-06T17:59:34Z</dcterms:created>
  <dcterms:modified xsi:type="dcterms:W3CDTF">2026-10-07T03:27:00Z</dcterms:modified>
</cp:coreProperties>
</file>